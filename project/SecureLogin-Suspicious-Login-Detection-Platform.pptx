
<file path=[Content_Types].xml><?xml version="1.0" encoding="utf-8"?>
<Types xmlns="http://schemas.openxmlformats.org/package/2006/content-types">
  <Default Extension="xml" ContentType="application/xml"/>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p:sldMasterIdLst>
    <p:sldMasterId id="2147483648" r:id="rId1"/>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6225763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3819019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208802225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80676783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8006323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1237705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0974521" name="Slide Image Placeholder 1"/>
          <p:cNvSpPr>
            <a:spLocks noChangeAspect="1" noGrp="1" noRot="1"/>
          </p:cNvSpPr>
          <p:nvPr>
            <p:ph type="sldImg"/>
          </p:nvPr>
        </p:nvSpPr>
        <p:spPr bwMode="auto"/>
      </p:sp>
      <p:sp>
        <p:nvSpPr>
          <p:cNvPr id="1041171441" name="Notes Placeholder 2"/>
          <p:cNvSpPr>
            <a:spLocks noGrp="1"/>
          </p:cNvSpPr>
          <p:nvPr>
            <p:ph type="body" idx="1"/>
          </p:nvPr>
        </p:nvSpPr>
        <p:spPr bwMode="auto"/>
        <p:txBody>
          <a:bodyPr/>
          <a:lstStyle/>
          <a:p>
            <a:pPr>
              <a:defRPr/>
            </a:pPr>
            <a:endParaRPr lang="en-US"/>
          </a:p>
        </p:txBody>
      </p:sp>
      <p:sp>
        <p:nvSpPr>
          <p:cNvPr id="1370292106"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1683597" name="Slide Image Placeholder 1"/>
          <p:cNvSpPr>
            <a:spLocks noChangeAspect="1" noGrp="1" noRot="1"/>
          </p:cNvSpPr>
          <p:nvPr>
            <p:ph type="sldImg"/>
          </p:nvPr>
        </p:nvSpPr>
        <p:spPr bwMode="auto"/>
      </p:sp>
      <p:sp>
        <p:nvSpPr>
          <p:cNvPr id="1620897987" name="Notes Placeholder 2"/>
          <p:cNvSpPr>
            <a:spLocks noGrp="1"/>
          </p:cNvSpPr>
          <p:nvPr>
            <p:ph type="body" idx="1"/>
          </p:nvPr>
        </p:nvSpPr>
        <p:spPr bwMode="auto"/>
        <p:txBody>
          <a:bodyPr/>
          <a:lstStyle/>
          <a:p>
            <a:pPr>
              <a:defRPr/>
            </a:pPr>
            <a:endParaRPr lang="en-US"/>
          </a:p>
        </p:txBody>
      </p:sp>
      <p:sp>
        <p:nvSpPr>
          <p:cNvPr id="2023578925"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4479857" name="Slide Image Placeholder 1"/>
          <p:cNvSpPr>
            <a:spLocks noChangeAspect="1" noGrp="1" noRot="1"/>
          </p:cNvSpPr>
          <p:nvPr>
            <p:ph type="sldImg"/>
          </p:nvPr>
        </p:nvSpPr>
        <p:spPr bwMode="auto"/>
      </p:sp>
      <p:sp>
        <p:nvSpPr>
          <p:cNvPr id="695498817" name="Notes Placeholder 2"/>
          <p:cNvSpPr>
            <a:spLocks noGrp="1"/>
          </p:cNvSpPr>
          <p:nvPr>
            <p:ph type="body" idx="1"/>
          </p:nvPr>
        </p:nvSpPr>
        <p:spPr bwMode="auto"/>
        <p:txBody>
          <a:bodyPr/>
          <a:lstStyle/>
          <a:p>
            <a:pPr>
              <a:defRPr/>
            </a:pPr>
            <a:endParaRPr lang="en-US"/>
          </a:p>
        </p:txBody>
      </p:sp>
      <p:sp>
        <p:nvSpPr>
          <p:cNvPr id="85289156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3179434" name="Slide Image Placeholder 1"/>
          <p:cNvSpPr>
            <a:spLocks noChangeAspect="1" noGrp="1" noRot="1"/>
          </p:cNvSpPr>
          <p:nvPr>
            <p:ph type="sldImg"/>
          </p:nvPr>
        </p:nvSpPr>
        <p:spPr bwMode="auto"/>
      </p:sp>
      <p:sp>
        <p:nvSpPr>
          <p:cNvPr id="815459022" name="Notes Placeholder 2"/>
          <p:cNvSpPr>
            <a:spLocks noGrp="1"/>
          </p:cNvSpPr>
          <p:nvPr>
            <p:ph type="body" idx="1"/>
          </p:nvPr>
        </p:nvSpPr>
        <p:spPr bwMode="auto"/>
        <p:txBody>
          <a:bodyPr/>
          <a:lstStyle/>
          <a:p>
            <a:pPr>
              <a:defRPr/>
            </a:pPr>
            <a:endParaRPr lang="en-US"/>
          </a:p>
        </p:txBody>
      </p:sp>
      <p:sp>
        <p:nvSpPr>
          <p:cNvPr id="2094827500"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6824756" name="Slide Image Placeholder 1"/>
          <p:cNvSpPr>
            <a:spLocks noChangeAspect="1" noGrp="1" noRot="1"/>
          </p:cNvSpPr>
          <p:nvPr>
            <p:ph type="sldImg"/>
          </p:nvPr>
        </p:nvSpPr>
        <p:spPr bwMode="auto"/>
      </p:sp>
      <p:sp>
        <p:nvSpPr>
          <p:cNvPr id="1580070904" name="Notes Placeholder 2"/>
          <p:cNvSpPr>
            <a:spLocks noGrp="1"/>
          </p:cNvSpPr>
          <p:nvPr>
            <p:ph type="body" idx="1"/>
          </p:nvPr>
        </p:nvSpPr>
        <p:spPr bwMode="auto"/>
        <p:txBody>
          <a:bodyPr/>
          <a:lstStyle/>
          <a:p>
            <a:pPr>
              <a:defRPr/>
            </a:pPr>
            <a:endParaRPr lang="en-US"/>
          </a:p>
        </p:txBody>
      </p:sp>
      <p:sp>
        <p:nvSpPr>
          <p:cNvPr id="1946551775"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6417117" name="Slide Image Placeholder 1"/>
          <p:cNvSpPr>
            <a:spLocks noChangeAspect="1" noGrp="1" noRot="1"/>
          </p:cNvSpPr>
          <p:nvPr>
            <p:ph type="sldImg"/>
          </p:nvPr>
        </p:nvSpPr>
        <p:spPr bwMode="auto"/>
      </p:sp>
      <p:sp>
        <p:nvSpPr>
          <p:cNvPr id="196136421" name="Notes Placeholder 2"/>
          <p:cNvSpPr>
            <a:spLocks noGrp="1"/>
          </p:cNvSpPr>
          <p:nvPr>
            <p:ph type="body" idx="1"/>
          </p:nvPr>
        </p:nvSpPr>
        <p:spPr bwMode="auto"/>
        <p:txBody>
          <a:bodyPr/>
          <a:lstStyle/>
          <a:p>
            <a:pPr>
              <a:defRPr/>
            </a:pPr>
            <a:endParaRPr lang="en-US"/>
          </a:p>
        </p:txBody>
      </p:sp>
      <p:sp>
        <p:nvSpPr>
          <p:cNvPr id="1246634301"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330089" name="Slide Image Placeholder 1"/>
          <p:cNvSpPr>
            <a:spLocks noChangeAspect="1" noGrp="1" noRot="1"/>
          </p:cNvSpPr>
          <p:nvPr>
            <p:ph type="sldImg"/>
          </p:nvPr>
        </p:nvSpPr>
        <p:spPr bwMode="auto"/>
      </p:sp>
      <p:sp>
        <p:nvSpPr>
          <p:cNvPr id="3460941" name="Notes Placeholder 2"/>
          <p:cNvSpPr>
            <a:spLocks noGrp="1"/>
          </p:cNvSpPr>
          <p:nvPr>
            <p:ph type="body" idx="1"/>
          </p:nvPr>
        </p:nvSpPr>
        <p:spPr bwMode="auto"/>
        <p:txBody>
          <a:bodyPr/>
          <a:lstStyle/>
          <a:p>
            <a:pPr>
              <a:defRPr/>
            </a:pPr>
            <a:endParaRPr lang="en-US"/>
          </a:p>
        </p:txBody>
      </p:sp>
      <p:sp>
        <p:nvSpPr>
          <p:cNvPr id="1108001270"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3178070" name="Slide Image Placeholder 1"/>
          <p:cNvSpPr>
            <a:spLocks noChangeAspect="1" noGrp="1" noRot="1"/>
          </p:cNvSpPr>
          <p:nvPr>
            <p:ph type="sldImg"/>
          </p:nvPr>
        </p:nvSpPr>
        <p:spPr bwMode="auto"/>
      </p:sp>
      <p:sp>
        <p:nvSpPr>
          <p:cNvPr id="1446377133" name="Notes Placeholder 2"/>
          <p:cNvSpPr>
            <a:spLocks noGrp="1"/>
          </p:cNvSpPr>
          <p:nvPr>
            <p:ph type="body" idx="1"/>
          </p:nvPr>
        </p:nvSpPr>
        <p:spPr bwMode="auto"/>
        <p:txBody>
          <a:bodyPr/>
          <a:lstStyle/>
          <a:p>
            <a:pPr>
              <a:defRPr/>
            </a:pPr>
            <a:endParaRPr lang="en-US"/>
          </a:p>
        </p:txBody>
      </p:sp>
      <p:sp>
        <p:nvSpPr>
          <p:cNvPr id="1047494458"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7477435" name="Slide Image Placeholder 1"/>
          <p:cNvSpPr>
            <a:spLocks noChangeAspect="1" noGrp="1" noRot="1"/>
          </p:cNvSpPr>
          <p:nvPr>
            <p:ph type="sldImg"/>
          </p:nvPr>
        </p:nvSpPr>
        <p:spPr bwMode="auto"/>
      </p:sp>
      <p:sp>
        <p:nvSpPr>
          <p:cNvPr id="920641812" name="Notes Placeholder 2"/>
          <p:cNvSpPr>
            <a:spLocks noGrp="1"/>
          </p:cNvSpPr>
          <p:nvPr>
            <p:ph type="body" idx="1"/>
          </p:nvPr>
        </p:nvSpPr>
        <p:spPr bwMode="auto"/>
        <p:txBody>
          <a:bodyPr/>
          <a:lstStyle/>
          <a:p>
            <a:pPr>
              <a:defRPr/>
            </a:pPr>
            <a:endParaRPr lang="en-US"/>
          </a:p>
        </p:txBody>
      </p:sp>
      <p:sp>
        <p:nvSpPr>
          <p:cNvPr id="276117708" name="Slide Number Placeholder 3"/>
          <p:cNvSpPr>
            <a:spLocks noGrp="1"/>
          </p:cNvSpPr>
          <p:nvPr>
            <p:ph type="sldNum" sz="quarter" idx="10"/>
          </p:nvPr>
        </p:nvSpPr>
        <p:spPr bwMode="auto"/>
        <p:txBody>
          <a:bodyPr/>
          <a:lstStyle/>
          <a:p>
            <a:pPr>
              <a:defRPr/>
            </a:pPr>
            <a:fld id="{F70C2BB8-2537-3C98-9FB3-567C7E2E57CE}" type="slidenum">
              <a:rPr lang="en-US"/>
              <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8730709" name="Slide Image Placeholder 1"/>
          <p:cNvSpPr>
            <a:spLocks noChangeAspect="1" noGrp="1" noRot="1"/>
          </p:cNvSpPr>
          <p:nvPr>
            <p:ph type="sldImg"/>
          </p:nvPr>
        </p:nvSpPr>
        <p:spPr bwMode="auto"/>
      </p:sp>
      <p:sp>
        <p:nvSpPr>
          <p:cNvPr id="1580274420" name="Notes Placeholder 2"/>
          <p:cNvSpPr>
            <a:spLocks noGrp="1"/>
          </p:cNvSpPr>
          <p:nvPr>
            <p:ph type="body" idx="1"/>
          </p:nvPr>
        </p:nvSpPr>
        <p:spPr bwMode="auto"/>
        <p:txBody>
          <a:bodyPr/>
          <a:lstStyle/>
          <a:p>
            <a:pPr>
              <a:defRPr/>
            </a:pPr>
            <a:endParaRPr lang="en-US"/>
          </a:p>
        </p:txBody>
      </p:sp>
      <p:sp>
        <p:nvSpPr>
          <p:cNvPr id="338623139" name="Slide Number Placeholder 3"/>
          <p:cNvSpPr>
            <a:spLocks noGrp="1"/>
          </p:cNvSpPr>
          <p:nvPr>
            <p:ph type="sldNum" sz="quarter" idx="10"/>
          </p:nvPr>
        </p:nvSpPr>
        <p:spPr bwMode="auto"/>
        <p:txBody>
          <a:bodyPr/>
          <a:lstStyle/>
          <a:p>
            <a:pPr>
              <a:defRPr/>
            </a:pPr>
            <a:fld id="{F43C8A6C-CEC4-618C-A800-89886213DA8E}" type="slidenum">
              <a:rPr lang="en-US"/>
              <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4617671" name="Slide Image Placeholder 1"/>
          <p:cNvSpPr>
            <a:spLocks noChangeAspect="1" noGrp="1" noRot="1"/>
          </p:cNvSpPr>
          <p:nvPr>
            <p:ph type="sldImg"/>
          </p:nvPr>
        </p:nvSpPr>
        <p:spPr bwMode="auto"/>
      </p:sp>
      <p:sp>
        <p:nvSpPr>
          <p:cNvPr id="211792808" name="Notes Placeholder 2"/>
          <p:cNvSpPr>
            <a:spLocks noGrp="1"/>
          </p:cNvSpPr>
          <p:nvPr>
            <p:ph type="body" idx="1"/>
          </p:nvPr>
        </p:nvSpPr>
        <p:spPr bwMode="auto"/>
        <p:txBody>
          <a:bodyPr/>
          <a:lstStyle/>
          <a:p>
            <a:pPr>
              <a:defRPr/>
            </a:pPr>
            <a:endParaRPr lang="en-US"/>
          </a:p>
        </p:txBody>
      </p:sp>
      <p:sp>
        <p:nvSpPr>
          <p:cNvPr id="168105529" name="Slide Number Placeholder 3"/>
          <p:cNvSpPr>
            <a:spLocks noGrp="1"/>
          </p:cNvSpPr>
          <p:nvPr>
            <p:ph type="sldNum" sz="quarter" idx="10"/>
          </p:nvPr>
        </p:nvSpPr>
        <p:spPr bwMode="auto"/>
        <p:txBody>
          <a:bodyPr/>
          <a:lstStyle/>
          <a:p>
            <a:pPr>
              <a:defRPr/>
            </a:pPr>
            <a:fld id="{7E7877A1-71FD-B6AF-817A-D74838901763}" type="slidenum">
              <a:rPr lang="en-US"/>
              <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8010261" name="Slide Image Placeholder 1"/>
          <p:cNvSpPr>
            <a:spLocks noChangeAspect="1" noGrp="1" noRot="1"/>
          </p:cNvSpPr>
          <p:nvPr>
            <p:ph type="sldImg"/>
          </p:nvPr>
        </p:nvSpPr>
        <p:spPr bwMode="auto"/>
      </p:sp>
      <p:sp>
        <p:nvSpPr>
          <p:cNvPr id="1304221218" name="Notes Placeholder 2"/>
          <p:cNvSpPr>
            <a:spLocks noGrp="1"/>
          </p:cNvSpPr>
          <p:nvPr>
            <p:ph type="body" idx="1"/>
          </p:nvPr>
        </p:nvSpPr>
        <p:spPr bwMode="auto"/>
        <p:txBody>
          <a:bodyPr/>
          <a:lstStyle/>
          <a:p>
            <a:pPr>
              <a:defRPr/>
            </a:pPr>
            <a:endParaRPr lang="en-US"/>
          </a:p>
        </p:txBody>
      </p:sp>
      <p:sp>
        <p:nvSpPr>
          <p:cNvPr id="1326148041" name="Slide Number Placeholder 3"/>
          <p:cNvSpPr>
            <a:spLocks noGrp="1"/>
          </p:cNvSpPr>
          <p:nvPr>
            <p:ph type="sldNum" sz="quarter" idx="10"/>
          </p:nvPr>
        </p:nvSpPr>
        <p:spPr bwMode="auto"/>
        <p:txBody>
          <a:bodyPr/>
          <a:lstStyle/>
          <a:p>
            <a:pPr>
              <a:defRPr/>
            </a:pPr>
            <a:fld id="{33D62049-B9F0-B13A-5B7A-2AE7C64E2ECB}" type="slidenum">
              <a:rPr lang="en-US"/>
              <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5282994" name="Slide Image Placeholder 1"/>
          <p:cNvSpPr>
            <a:spLocks noChangeAspect="1" noGrp="1" noRot="1"/>
          </p:cNvSpPr>
          <p:nvPr>
            <p:ph type="sldImg"/>
          </p:nvPr>
        </p:nvSpPr>
        <p:spPr bwMode="auto"/>
      </p:sp>
      <p:sp>
        <p:nvSpPr>
          <p:cNvPr id="1388683017" name="Notes Placeholder 2"/>
          <p:cNvSpPr>
            <a:spLocks noGrp="1"/>
          </p:cNvSpPr>
          <p:nvPr>
            <p:ph type="body" idx="1"/>
          </p:nvPr>
        </p:nvSpPr>
        <p:spPr bwMode="auto"/>
        <p:txBody>
          <a:bodyPr/>
          <a:lstStyle/>
          <a:p>
            <a:pPr>
              <a:defRPr/>
            </a:pPr>
            <a:endParaRPr lang="en-US"/>
          </a:p>
        </p:txBody>
      </p:sp>
      <p:sp>
        <p:nvSpPr>
          <p:cNvPr id="389271375" name="Slide Number Placeholder 3"/>
          <p:cNvSpPr>
            <a:spLocks noGrp="1"/>
          </p:cNvSpPr>
          <p:nvPr>
            <p:ph type="sldNum" sz="quarter" idx="10"/>
          </p:nvPr>
        </p:nvSpPr>
        <p:spPr bwMode="auto"/>
        <p:txBody>
          <a:bodyPr/>
          <a:lstStyle/>
          <a:p>
            <a:pPr>
              <a:defRPr/>
            </a:pPr>
            <a:fld id="{A3AB819C-34B0-A9F2-7AB6-28B62C5849D3}" type="slidenum">
              <a:rPr lang="en-US"/>
              <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6283337" name="Slide Image Placeholder 1"/>
          <p:cNvSpPr>
            <a:spLocks noChangeAspect="1" noGrp="1" noRot="1"/>
          </p:cNvSpPr>
          <p:nvPr>
            <p:ph type="sldImg"/>
          </p:nvPr>
        </p:nvSpPr>
        <p:spPr bwMode="auto"/>
      </p:sp>
      <p:sp>
        <p:nvSpPr>
          <p:cNvPr id="1886126086" name="Notes Placeholder 2"/>
          <p:cNvSpPr>
            <a:spLocks noGrp="1"/>
          </p:cNvSpPr>
          <p:nvPr>
            <p:ph type="body" idx="1"/>
          </p:nvPr>
        </p:nvSpPr>
        <p:spPr bwMode="auto"/>
        <p:txBody>
          <a:bodyPr/>
          <a:lstStyle/>
          <a:p>
            <a:pPr>
              <a:defRPr/>
            </a:pPr>
            <a:endParaRPr lang="en-US"/>
          </a:p>
        </p:txBody>
      </p:sp>
      <p:sp>
        <p:nvSpPr>
          <p:cNvPr id="1958353551" name="Slide Number Placeholder 3"/>
          <p:cNvSpPr>
            <a:spLocks noGrp="1"/>
          </p:cNvSpPr>
          <p:nvPr>
            <p:ph type="sldNum" sz="quarter" idx="10"/>
          </p:nvPr>
        </p:nvSpPr>
        <p:spPr bwMode="auto"/>
        <p:txBody>
          <a:bodyPr/>
          <a:lstStyle/>
          <a:p>
            <a:pPr>
              <a:defRPr/>
            </a:pPr>
            <a:fld id="{F5D33E6D-3931-5E18-3181-FDC43AA23027}" type="slidenum">
              <a:rPr lang="en-US"/>
              <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4686085" name="Slide Image Placeholder 1"/>
          <p:cNvSpPr>
            <a:spLocks noChangeAspect="1" noGrp="1" noRot="1"/>
          </p:cNvSpPr>
          <p:nvPr>
            <p:ph type="sldImg"/>
          </p:nvPr>
        </p:nvSpPr>
        <p:spPr bwMode="auto"/>
      </p:sp>
      <p:sp>
        <p:nvSpPr>
          <p:cNvPr id="2094642171" name="Notes Placeholder 2"/>
          <p:cNvSpPr>
            <a:spLocks noGrp="1"/>
          </p:cNvSpPr>
          <p:nvPr>
            <p:ph type="body" idx="1"/>
          </p:nvPr>
        </p:nvSpPr>
        <p:spPr bwMode="auto"/>
        <p:txBody>
          <a:bodyPr/>
          <a:lstStyle/>
          <a:p>
            <a:pPr>
              <a:defRPr/>
            </a:pPr>
            <a:endParaRPr lang="en-US"/>
          </a:p>
        </p:txBody>
      </p:sp>
      <p:sp>
        <p:nvSpPr>
          <p:cNvPr id="2116334877" name="Slide Number Placeholder 3"/>
          <p:cNvSpPr>
            <a:spLocks noGrp="1"/>
          </p:cNvSpPr>
          <p:nvPr>
            <p:ph type="sldNum" sz="quarter" idx="10"/>
          </p:nvPr>
        </p:nvSpPr>
        <p:spPr bwMode="auto"/>
        <p:txBody>
          <a:bodyPr/>
          <a:lstStyle/>
          <a:p>
            <a:pPr>
              <a:defRPr/>
            </a:pPr>
            <a:fld id="{85DDC519-BA37-B32E-F716-E7E11A2BAAAD}" type="slidenum">
              <a:rPr lang="en-US"/>
              <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master 1">
    <p:spTree>
      <p:nvGrpSpPr>
        <p:cNvPr id="1" name=""/>
        <p:cNvGrpSpPr/>
        <p:nvPr/>
      </p:nvGrpSpPr>
      <p:grpSpPr bwMode="auto">
        <a:xfrm>
          <a:off x="0" y="0"/>
          <a:ext cx="0" cy="0"/>
          <a:chOff x="0" y="0"/>
          <a:chExt cx="0" cy="0"/>
        </a:xfrm>
      </p:grpSpPr>
      <p:sp>
        <p:nvSpPr>
          <p:cNvPr id="786832276" name="Shape 0"/>
          <p:cNvSpPr/>
          <p:nvPr/>
        </p:nvSpPr>
        <p:spPr bwMode="auto">
          <a:xfrm>
            <a:off x="0" y="0"/>
            <a:ext cx="9144000" cy="5143500"/>
          </a:xfrm>
          <a:prstGeom prst="rect">
            <a:avLst/>
          </a:prstGeom>
          <a:solidFill>
            <a:srgbClr val="DEEEE1"/>
          </a:solidFill>
          <a:ln/>
        </p:spPr>
      </p:sp>
      <p:sp>
        <p:nvSpPr>
          <p:cNvPr id="469099465" name="Shape 1"/>
          <p:cNvSpPr/>
          <p:nvPr/>
        </p:nvSpPr>
        <p:spPr bwMode="auto">
          <a:xfrm>
            <a:off x="0" y="0"/>
            <a:ext cx="9144000" cy="5143500"/>
          </a:xfrm>
          <a:prstGeom prst="rect">
            <a:avLst/>
          </a:prstGeom>
          <a:solidFill>
            <a:srgbClr val="FAFFFA"/>
          </a:solidFill>
          <a:ln/>
        </p:spPr>
      </p:sp>
      <p:pic>
        <p:nvPicPr>
          <p:cNvPr id="896466636" name="Image 0" descr="preencoded.png">
            <a:hlinkClick r:id="rId2" tooltip=""/>
          </p:cNvPr>
          <p:cNvPicPr>
            <a:picLocks noChangeAspect="1"/>
          </p:cNvPicPr>
          <p:nvPr/>
        </p:nvPicPr>
        <p:blipFill>
          <a:blip r:embed="rId3"/>
          <a:stretch/>
        </p:blipFill>
        <p:spPr bwMode="auto">
          <a:xfrm>
            <a:off x="8029180" y="4844491"/>
            <a:ext cx="1071843" cy="256032"/>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media1.sv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media2.svg"/><Relationship Id="rId5" Type="http://schemas.openxmlformats.org/officeDocument/2006/relationships/image" Target="../media/image26.png"/><Relationship Id="rId6" Type="http://schemas.openxmlformats.org/officeDocument/2006/relationships/image" Target="../media/media3.svg"/><Relationship Id="rId7" Type="http://schemas.openxmlformats.org/officeDocument/2006/relationships/image" Target="../media/image27.png"/><Relationship Id="rId8" Type="http://schemas.openxmlformats.org/officeDocument/2006/relationships/image" Target="../media/media4.svg"/><Relationship Id="rId9" Type="http://schemas.openxmlformats.org/officeDocument/2006/relationships/image" Target="../media/image28.png"/><Relationship Id="rId10" Type="http://schemas.openxmlformats.org/officeDocument/2006/relationships/image" Target="../media/media5.svg"/><Relationship Id="rId11" Type="http://schemas.openxmlformats.org/officeDocument/2006/relationships/image" Target="../media/image29.png"/><Relationship Id="rId12" Type="http://schemas.openxmlformats.org/officeDocument/2006/relationships/image" Target="../media/media6.svg"/><Relationship Id="rId13" Type="http://schemas.openxmlformats.org/officeDocument/2006/relationships/image" Target="../media/image3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184371704" name="Shape 0"/>
          <p:cNvSpPr/>
          <p:nvPr/>
        </p:nvSpPr>
        <p:spPr bwMode="auto">
          <a:xfrm>
            <a:off x="5715000" y="0"/>
            <a:ext cx="3429000" cy="5143500"/>
          </a:xfrm>
          <a:prstGeom prst="rect">
            <a:avLst/>
          </a:prstGeom>
          <a:solidFill>
            <a:srgbClr val="E8F3E8"/>
          </a:solidFill>
          <a:ln/>
        </p:spPr>
      </p:sp>
      <p:pic>
        <p:nvPicPr>
          <p:cNvPr id="2000357728" name="Image 0" descr="preencoded.png"/>
          <p:cNvPicPr>
            <a:picLocks noChangeAspect="1"/>
          </p:cNvPicPr>
          <p:nvPr/>
        </p:nvPicPr>
        <p:blipFill>
          <a:blip r:embed="rId3"/>
          <a:stretch/>
        </p:blipFill>
        <p:spPr bwMode="auto">
          <a:xfrm>
            <a:off x="5785842" y="106263"/>
            <a:ext cx="3287316" cy="4930973"/>
          </a:xfrm>
          <a:prstGeom prst="rect">
            <a:avLst/>
          </a:prstGeom>
        </p:spPr>
      </p:pic>
      <p:sp>
        <p:nvSpPr>
          <p:cNvPr id="1458482432" name="Text 1"/>
          <p:cNvSpPr/>
          <p:nvPr/>
        </p:nvSpPr>
        <p:spPr bwMode="auto">
          <a:xfrm>
            <a:off x="496119" y="1545803"/>
            <a:ext cx="4722763" cy="885974"/>
          </a:xfrm>
          <a:prstGeom prst="rect">
            <a:avLst/>
          </a:prstGeom>
          <a:noFill/>
          <a:ln/>
        </p:spPr>
        <p:txBody>
          <a:bodyPr wrap="square" lIns="0" tIns="0" rIns="0" bIns="0" rtlCol="0" anchor="t">
            <a:normAutofit/>
          </a:bodyPr>
          <a:lstStyle/>
          <a:p>
            <a:pPr marL="0" indent="0" algn="l">
              <a:lnSpc>
                <a:spcPct val="104000"/>
              </a:lnSpc>
              <a:buNone/>
              <a:defRPr/>
            </a:pPr>
            <a:r>
              <a:rPr lang="en-US" sz="2750">
                <a:solidFill>
                  <a:srgbClr val="3B4540"/>
                </a:solidFill>
                <a:latin typeface="Fraunces ExtraBold"/>
                <a:ea typeface="Fraunces ExtraBold"/>
                <a:cs typeface="Fraunces ExtraBold"/>
              </a:rPr>
              <a:t>SecureLogin: Suspicious Login Detection Platform</a:t>
            </a:r>
            <a:endParaRPr lang="en-US" sz="2750"/>
          </a:p>
        </p:txBody>
      </p:sp>
      <p:sp>
        <p:nvSpPr>
          <p:cNvPr id="835920333" name="Text 2"/>
          <p:cNvSpPr/>
          <p:nvPr/>
        </p:nvSpPr>
        <p:spPr bwMode="auto">
          <a:xfrm>
            <a:off x="496119" y="2488481"/>
            <a:ext cx="4722763" cy="442913"/>
          </a:xfrm>
          <a:prstGeom prst="rect">
            <a:avLst/>
          </a:prstGeom>
          <a:noFill/>
          <a:ln/>
        </p:spPr>
        <p:txBody>
          <a:bodyPr wrap="square" lIns="0" tIns="0" rIns="0" bIns="0" rtlCol="0" anchor="t">
            <a:normAutofit/>
          </a:bodyPr>
          <a:lstStyle/>
          <a:p>
            <a:pPr marL="0" indent="0" algn="l">
              <a:lnSpc>
                <a:spcPct val="104000"/>
              </a:lnSpc>
              <a:buNone/>
              <a:defRPr/>
            </a:pPr>
            <a:r>
              <a:rPr lang="en-US" sz="1350">
                <a:solidFill>
                  <a:srgbClr val="3B4540"/>
                </a:solidFill>
                <a:latin typeface="Fraunces ExtraBold"/>
                <a:ea typeface="Fraunces ExtraBold"/>
                <a:cs typeface="Fraunces ExtraBold"/>
              </a:rPr>
              <a:t>Data Analytics Project using Risk-Based Authentication (RBA)</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884941747" name="Text 0"/>
          <p:cNvSpPr/>
          <p:nvPr/>
        </p:nvSpPr>
        <p:spPr bwMode="auto">
          <a:xfrm>
            <a:off x="1744413" y="2002557"/>
            <a:ext cx="2096319" cy="204862"/>
          </a:xfrm>
          <a:prstGeom prst="rect">
            <a:avLst/>
          </a:prstGeom>
          <a:noFill/>
          <a:ln/>
        </p:spPr>
        <p:txBody>
          <a:bodyPr wrap="none" lIns="0" tIns="0" rIns="0" bIns="0" rtlCol="0" anchor="t"/>
          <a:lstStyle/>
          <a:p>
            <a:pPr marL="0" indent="0" algn="l">
              <a:lnSpc>
                <a:spcPct val="104000"/>
              </a:lnSpc>
              <a:buNone/>
              <a:defRPr/>
            </a:pPr>
            <a:r>
              <a:rPr lang="en-US" sz="1250">
                <a:solidFill>
                  <a:srgbClr val="3B4540"/>
                </a:solidFill>
                <a:latin typeface="Fraunces ExtraBold"/>
                <a:ea typeface="Fraunces ExtraBold"/>
                <a:cs typeface="Fraunces ExtraBold"/>
              </a:rPr>
              <a:t>The Landscape</a:t>
            </a:r>
            <a:endParaRPr lang="en-US" sz="1250"/>
          </a:p>
        </p:txBody>
      </p:sp>
      <p:sp>
        <p:nvSpPr>
          <p:cNvPr id="259843387" name="Text 1"/>
          <p:cNvSpPr/>
          <p:nvPr/>
        </p:nvSpPr>
        <p:spPr bwMode="auto">
          <a:xfrm>
            <a:off x="1744413" y="2254746"/>
            <a:ext cx="2727647" cy="206871"/>
          </a:xfrm>
          <a:prstGeom prst="rect">
            <a:avLst/>
          </a:prstGeom>
          <a:noFill/>
          <a:ln/>
        </p:spPr>
        <p:txBody>
          <a:bodyPr wrap="square" lIns="0" tIns="0" rIns="0" bIns="0" rtlCol="0" anchor="t">
            <a:normAutofit/>
          </a:bodyPr>
          <a:lstStyle/>
          <a:p>
            <a:pPr marL="0" indent="0" algn="l">
              <a:lnSpc>
                <a:spcPct val="105000"/>
              </a:lnSpc>
              <a:buNone/>
              <a:defRPr/>
            </a:pPr>
            <a:r>
              <a:rPr lang="en-US" sz="600">
                <a:solidFill>
                  <a:srgbClr val="405449"/>
                </a:solidFill>
                <a:latin typeface="Nobile"/>
                <a:ea typeface="Nobile"/>
                <a:cs typeface="Nobile"/>
              </a:rPr>
              <a:t>Objective: embed risk-aware decisions into authentication flows with low false positives and measurable signal-to-noise improvement.</a:t>
            </a:r>
            <a:endParaRPr lang="en-US" sz="600"/>
          </a:p>
        </p:txBody>
      </p:sp>
      <p:sp>
        <p:nvSpPr>
          <p:cNvPr id="135044863" name="Shape 2"/>
          <p:cNvSpPr/>
          <p:nvPr/>
        </p:nvSpPr>
        <p:spPr bwMode="auto">
          <a:xfrm>
            <a:off x="4676701" y="444550"/>
            <a:ext cx="2727647" cy="643384"/>
          </a:xfrm>
          <a:prstGeom prst="roundRect">
            <a:avLst>
              <a:gd name="adj" fmla="val 11465"/>
            </a:avLst>
          </a:prstGeom>
          <a:solidFill>
            <a:srgbClr val="B6D6FC"/>
          </a:solidFill>
          <a:ln/>
        </p:spPr>
      </p:sp>
      <p:pic>
        <p:nvPicPr>
          <p:cNvPr id="1821849032" name="Image 0" descr="preencoded.png"/>
          <p:cNvPicPr>
            <a:picLocks noChangeAspect="1"/>
          </p:cNvPicPr>
          <p:nvPr/>
        </p:nvPicPr>
        <p:blipFill>
          <a:blip r:embed="rId3"/>
          <a:stretch/>
        </p:blipFill>
        <p:spPr bwMode="auto">
          <a:xfrm>
            <a:off x="4758630" y="546943"/>
            <a:ext cx="102394" cy="81930"/>
          </a:xfrm>
          <a:prstGeom prst="rect">
            <a:avLst/>
          </a:prstGeom>
        </p:spPr>
      </p:pic>
      <p:sp>
        <p:nvSpPr>
          <p:cNvPr id="1110158519" name="Text 3"/>
          <p:cNvSpPr/>
          <p:nvPr/>
        </p:nvSpPr>
        <p:spPr bwMode="auto">
          <a:xfrm>
            <a:off x="4942954" y="507653"/>
            <a:ext cx="2379464" cy="517177"/>
          </a:xfrm>
          <a:prstGeom prst="rect">
            <a:avLst/>
          </a:prstGeom>
          <a:noFill/>
          <a:ln/>
        </p:spPr>
        <p:txBody>
          <a:bodyPr wrap="square" lIns="0" tIns="0" rIns="0" bIns="0" rtlCol="0" anchor="t">
            <a:normAutofit/>
          </a:bodyPr>
          <a:lstStyle/>
          <a:p>
            <a:pPr marL="0" indent="0" algn="l">
              <a:lnSpc>
                <a:spcPct val="105000"/>
              </a:lnSpc>
              <a:buNone/>
              <a:defRPr/>
            </a:pPr>
            <a:r>
              <a:rPr lang="en-US" sz="600">
                <a:solidFill>
                  <a:srgbClr val="000000"/>
                </a:solidFill>
                <a:latin typeface="Nobile"/>
                <a:ea typeface="Nobile"/>
                <a:cs typeface="Nobile"/>
              </a:rPr>
              <a:t>         RBA Framework — concise definition: compute a contextual, time‑sensitive risk score per login by combining behavioral telemetry, device signals, network indicators, and historical user models. Scores drive automated policy responses: allow, step-up, deny.       </a:t>
            </a:r>
            <a:endParaRPr lang="en-US" sz="600"/>
          </a:p>
        </p:txBody>
      </p:sp>
      <p:pic>
        <p:nvPicPr>
          <p:cNvPr id="205582543" name="Image 1" descr="preencoded.png"/>
          <p:cNvPicPr>
            <a:picLocks noChangeAspect="1"/>
          </p:cNvPicPr>
          <p:nvPr/>
        </p:nvPicPr>
        <p:blipFill>
          <a:blip r:embed="rId4"/>
          <a:stretch/>
        </p:blipFill>
        <p:spPr bwMode="auto">
          <a:xfrm>
            <a:off x="4676701" y="1141214"/>
            <a:ext cx="2727647" cy="2727647"/>
          </a:xfrm>
          <a:prstGeom prst="rect">
            <a:avLst/>
          </a:prstGeom>
        </p:spPr>
      </p:pic>
      <p:sp>
        <p:nvSpPr>
          <p:cNvPr id="1546385828" name="Text 4"/>
          <p:cNvSpPr/>
          <p:nvPr/>
        </p:nvSpPr>
        <p:spPr bwMode="auto">
          <a:xfrm>
            <a:off x="4448101" y="3922142"/>
            <a:ext cx="3184846" cy="103436"/>
          </a:xfrm>
          <a:prstGeom prst="rect">
            <a:avLst/>
          </a:prstGeom>
          <a:noFill/>
          <a:ln/>
        </p:spPr>
        <p:txBody>
          <a:bodyPr wrap="none" lIns="0" tIns="0" rIns="0" bIns="0" rtlCol="0" anchor="t"/>
          <a:lstStyle/>
          <a:p>
            <a:pPr marL="0" indent="0" algn="ctr">
              <a:lnSpc>
                <a:spcPct val="105000"/>
              </a:lnSpc>
              <a:buNone/>
              <a:defRPr/>
            </a:pPr>
            <a:r>
              <a:rPr lang="en-US" sz="600">
                <a:solidFill>
                  <a:srgbClr val="405449"/>
                </a:solidFill>
                <a:latin typeface="Nobile"/>
                <a:ea typeface="Nobile"/>
                <a:cs typeface="Nobile"/>
              </a:rPr>
              <a:t>Key outputs: risk_score (0-100), risk_factors[], policy_action</a:t>
            </a:r>
            <a:endParaRPr lang="en-US" sz="600"/>
          </a:p>
        </p:txBody>
      </p:sp>
      <p:sp>
        <p:nvSpPr>
          <p:cNvPr id="1803187519" name="Shape 5"/>
          <p:cNvSpPr/>
          <p:nvPr/>
        </p:nvSpPr>
        <p:spPr bwMode="auto">
          <a:xfrm>
            <a:off x="1744413" y="4121497"/>
            <a:ext cx="1853505" cy="630659"/>
          </a:xfrm>
          <a:prstGeom prst="roundRect">
            <a:avLst>
              <a:gd name="adj" fmla="val 11696"/>
            </a:avLst>
          </a:prstGeom>
          <a:solidFill>
            <a:srgbClr val="E8F3E8"/>
          </a:solidFill>
          <a:ln/>
        </p:spPr>
      </p:sp>
      <p:sp>
        <p:nvSpPr>
          <p:cNvPr id="1081806631" name="Text 6"/>
          <p:cNvSpPr/>
          <p:nvPr/>
        </p:nvSpPr>
        <p:spPr bwMode="auto">
          <a:xfrm>
            <a:off x="1826344" y="4203427"/>
            <a:ext cx="1024458" cy="128067"/>
          </a:xfrm>
          <a:prstGeom prst="rect">
            <a:avLst/>
          </a:prstGeom>
          <a:noFill/>
          <a:ln/>
        </p:spPr>
        <p:txBody>
          <a:bodyPr wrap="none" lIns="0" tIns="0" rIns="0" bIns="0" rtlCol="0" anchor="t"/>
          <a:lstStyle/>
          <a:p>
            <a:pPr marL="0" indent="0" algn="l">
              <a:lnSpc>
                <a:spcPct val="104000"/>
              </a:lnSpc>
              <a:buNone/>
              <a:defRPr/>
            </a:pPr>
            <a:r>
              <a:rPr lang="en-US" sz="800">
                <a:solidFill>
                  <a:srgbClr val="405449"/>
                </a:solidFill>
                <a:latin typeface="Fraunces ExtraBold"/>
                <a:ea typeface="Fraunces ExtraBold"/>
                <a:cs typeface="Fraunces ExtraBold"/>
              </a:rPr>
              <a:t>Escalating Threats</a:t>
            </a:r>
            <a:endParaRPr lang="en-US" sz="800"/>
          </a:p>
        </p:txBody>
      </p:sp>
      <p:sp>
        <p:nvSpPr>
          <p:cNvPr id="1077694971" name="Text 7"/>
          <p:cNvSpPr/>
          <p:nvPr/>
        </p:nvSpPr>
        <p:spPr bwMode="auto">
          <a:xfrm>
            <a:off x="1826344" y="4359920"/>
            <a:ext cx="1689646" cy="310307"/>
          </a:xfrm>
          <a:prstGeom prst="rect">
            <a:avLst/>
          </a:prstGeom>
          <a:noFill/>
          <a:ln/>
        </p:spPr>
        <p:txBody>
          <a:bodyPr wrap="square" lIns="0" tIns="0" rIns="0" bIns="0" rtlCol="0" anchor="t">
            <a:normAutofit/>
          </a:bodyPr>
          <a:lstStyle/>
          <a:p>
            <a:pPr marL="0" indent="0" algn="l">
              <a:lnSpc>
                <a:spcPct val="105000"/>
              </a:lnSpc>
              <a:buNone/>
              <a:defRPr/>
            </a:pPr>
            <a:r>
              <a:rPr lang="en-US" sz="600">
                <a:solidFill>
                  <a:srgbClr val="405449"/>
                </a:solidFill>
                <a:latin typeface="Nobile"/>
                <a:ea typeface="Nobile"/>
                <a:cs typeface="Nobile"/>
              </a:rPr>
              <a:t>Credential stuffing, automated bots, and account takeover campaigns are increasing velocity and sophistication.</a:t>
            </a:r>
            <a:endParaRPr lang="en-US" sz="600"/>
          </a:p>
        </p:txBody>
      </p:sp>
      <p:sp>
        <p:nvSpPr>
          <p:cNvPr id="909952894" name="Shape 8"/>
          <p:cNvSpPr/>
          <p:nvPr/>
        </p:nvSpPr>
        <p:spPr bwMode="auto">
          <a:xfrm>
            <a:off x="3645247" y="4121497"/>
            <a:ext cx="1853505" cy="630659"/>
          </a:xfrm>
          <a:prstGeom prst="roundRect">
            <a:avLst>
              <a:gd name="adj" fmla="val 11696"/>
            </a:avLst>
          </a:prstGeom>
          <a:solidFill>
            <a:srgbClr val="E8F3E8"/>
          </a:solidFill>
          <a:ln/>
        </p:spPr>
      </p:sp>
      <p:sp>
        <p:nvSpPr>
          <p:cNvPr id="1611627708" name="Text 9"/>
          <p:cNvSpPr/>
          <p:nvPr/>
        </p:nvSpPr>
        <p:spPr bwMode="auto">
          <a:xfrm>
            <a:off x="3727177" y="4203427"/>
            <a:ext cx="1208708" cy="128067"/>
          </a:xfrm>
          <a:prstGeom prst="rect">
            <a:avLst/>
          </a:prstGeom>
          <a:noFill/>
          <a:ln/>
        </p:spPr>
        <p:txBody>
          <a:bodyPr wrap="none" lIns="0" tIns="0" rIns="0" bIns="0" rtlCol="0" anchor="t"/>
          <a:lstStyle/>
          <a:p>
            <a:pPr marL="0" indent="0" algn="l">
              <a:lnSpc>
                <a:spcPct val="104000"/>
              </a:lnSpc>
              <a:buNone/>
              <a:defRPr/>
            </a:pPr>
            <a:r>
              <a:rPr lang="en-US" sz="800">
                <a:solidFill>
                  <a:srgbClr val="405449"/>
                </a:solidFill>
                <a:latin typeface="Fraunces ExtraBold"/>
                <a:ea typeface="Fraunces ExtraBold"/>
                <a:cs typeface="Fraunces ExtraBold"/>
              </a:rPr>
              <a:t>Operational Blindspots</a:t>
            </a:r>
            <a:endParaRPr lang="en-US" sz="800"/>
          </a:p>
        </p:txBody>
      </p:sp>
      <p:sp>
        <p:nvSpPr>
          <p:cNvPr id="1660001307" name="Text 10"/>
          <p:cNvSpPr/>
          <p:nvPr/>
        </p:nvSpPr>
        <p:spPr bwMode="auto">
          <a:xfrm>
            <a:off x="3727177" y="4359920"/>
            <a:ext cx="1689646" cy="310307"/>
          </a:xfrm>
          <a:prstGeom prst="rect">
            <a:avLst/>
          </a:prstGeom>
          <a:noFill/>
          <a:ln/>
        </p:spPr>
        <p:txBody>
          <a:bodyPr wrap="square" lIns="0" tIns="0" rIns="0" bIns="0" rtlCol="0" anchor="t">
            <a:normAutofit/>
          </a:bodyPr>
          <a:lstStyle/>
          <a:p>
            <a:pPr marL="0" indent="0" algn="l">
              <a:lnSpc>
                <a:spcPct val="105000"/>
              </a:lnSpc>
              <a:buNone/>
              <a:defRPr/>
            </a:pPr>
            <a:r>
              <a:rPr lang="en-US" sz="600">
                <a:solidFill>
                  <a:srgbClr val="405449"/>
                </a:solidFill>
                <a:latin typeface="Nobile"/>
                <a:ea typeface="Nobile"/>
                <a:cs typeface="Nobile"/>
              </a:rPr>
              <a:t>Static MFA and password-only checks fail to capture contextual risk signals in real time.</a:t>
            </a:r>
            <a:endParaRPr lang="en-US" sz="600"/>
          </a:p>
        </p:txBody>
      </p:sp>
      <p:sp>
        <p:nvSpPr>
          <p:cNvPr id="1056824476" name="Shape 11"/>
          <p:cNvSpPr/>
          <p:nvPr/>
        </p:nvSpPr>
        <p:spPr bwMode="auto">
          <a:xfrm>
            <a:off x="5546080" y="4121497"/>
            <a:ext cx="1853505" cy="630659"/>
          </a:xfrm>
          <a:prstGeom prst="roundRect">
            <a:avLst>
              <a:gd name="adj" fmla="val 11696"/>
            </a:avLst>
          </a:prstGeom>
          <a:solidFill>
            <a:srgbClr val="E8F3E8"/>
          </a:solidFill>
          <a:ln/>
        </p:spPr>
      </p:sp>
      <p:sp>
        <p:nvSpPr>
          <p:cNvPr id="523370713" name="Text 12"/>
          <p:cNvSpPr/>
          <p:nvPr/>
        </p:nvSpPr>
        <p:spPr bwMode="auto">
          <a:xfrm>
            <a:off x="5628010" y="4203427"/>
            <a:ext cx="1024458" cy="128067"/>
          </a:xfrm>
          <a:prstGeom prst="rect">
            <a:avLst/>
          </a:prstGeom>
          <a:noFill/>
          <a:ln/>
        </p:spPr>
        <p:txBody>
          <a:bodyPr wrap="none" lIns="0" tIns="0" rIns="0" bIns="0" rtlCol="0" anchor="t"/>
          <a:lstStyle/>
          <a:p>
            <a:pPr marL="0" indent="0" algn="l">
              <a:lnSpc>
                <a:spcPct val="104000"/>
              </a:lnSpc>
              <a:buNone/>
              <a:defRPr/>
            </a:pPr>
            <a:r>
              <a:rPr lang="en-US" sz="800">
                <a:solidFill>
                  <a:srgbClr val="405449"/>
                </a:solidFill>
                <a:latin typeface="Fraunces ExtraBold"/>
                <a:ea typeface="Fraunces ExtraBold"/>
                <a:cs typeface="Fraunces ExtraBold"/>
              </a:rPr>
              <a:t>Data Complexity</a:t>
            </a:r>
            <a:endParaRPr lang="en-US" sz="800"/>
          </a:p>
        </p:txBody>
      </p:sp>
      <p:sp>
        <p:nvSpPr>
          <p:cNvPr id="658356715" name="Text 13"/>
          <p:cNvSpPr/>
          <p:nvPr/>
        </p:nvSpPr>
        <p:spPr bwMode="auto">
          <a:xfrm>
            <a:off x="5628010" y="4359920"/>
            <a:ext cx="1689646" cy="310307"/>
          </a:xfrm>
          <a:prstGeom prst="rect">
            <a:avLst/>
          </a:prstGeom>
          <a:noFill/>
          <a:ln/>
        </p:spPr>
        <p:txBody>
          <a:bodyPr wrap="square" lIns="0" tIns="0" rIns="0" bIns="0" rtlCol="0" anchor="t">
            <a:normAutofit/>
          </a:bodyPr>
          <a:lstStyle/>
          <a:p>
            <a:pPr marL="0" indent="0" algn="l">
              <a:lnSpc>
                <a:spcPct val="105000"/>
              </a:lnSpc>
              <a:buNone/>
              <a:defRPr/>
            </a:pPr>
            <a:r>
              <a:rPr lang="en-US" sz="600">
                <a:solidFill>
                  <a:srgbClr val="405449"/>
                </a:solidFill>
                <a:latin typeface="Nobile"/>
                <a:ea typeface="Nobile"/>
                <a:cs typeface="Nobile"/>
              </a:rPr>
              <a:t>High-cardinality telemetry (IP, device fingerprinting, geolocation) requires scalable analytics to surface anomalies.</a:t>
            </a:r>
            <a:endParaRPr lang="en-US" sz="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1168534166" name="Text 0"/>
          <p:cNvSpPr/>
          <p:nvPr/>
        </p:nvSpPr>
        <p:spPr bwMode="auto">
          <a:xfrm>
            <a:off x="813122" y="1114351"/>
            <a:ext cx="7517755" cy="354360"/>
          </a:xfrm>
          <a:prstGeom prst="rect">
            <a:avLst/>
          </a:prstGeom>
          <a:noFill/>
          <a:ln/>
        </p:spPr>
        <p:txBody>
          <a:bodyPr wrap="none" lIns="0" tIns="0" rIns="0" bIns="0" rtlCol="0" anchor="t"/>
          <a:lstStyle/>
          <a:p>
            <a:pPr marL="0" indent="0" algn="ctr">
              <a:lnSpc>
                <a:spcPct val="104000"/>
              </a:lnSpc>
              <a:buNone/>
              <a:defRPr/>
            </a:pPr>
            <a:r>
              <a:rPr lang="en-US" sz="2200">
                <a:solidFill>
                  <a:srgbClr val="3B4540"/>
                </a:solidFill>
                <a:latin typeface="Fraunces ExtraBold"/>
                <a:ea typeface="Fraunces ExtraBold"/>
                <a:cs typeface="Fraunces ExtraBold"/>
              </a:rPr>
              <a:t>Problem Statement — Why Traditional Auth Fails</a:t>
            </a:r>
            <a:endParaRPr lang="en-US" sz="2200"/>
          </a:p>
        </p:txBody>
      </p:sp>
      <p:sp>
        <p:nvSpPr>
          <p:cNvPr id="103689527" name="Shape 1"/>
          <p:cNvSpPr/>
          <p:nvPr/>
        </p:nvSpPr>
        <p:spPr bwMode="auto">
          <a:xfrm>
            <a:off x="496119" y="1752228"/>
            <a:ext cx="8151763" cy="2276847"/>
          </a:xfrm>
          <a:prstGeom prst="roundRect">
            <a:avLst>
              <a:gd name="adj" fmla="val 5604"/>
            </a:avLst>
          </a:prstGeom>
          <a:solidFill>
            <a:srgbClr val="E8F3E8"/>
          </a:solidFill>
          <a:ln/>
        </p:spPr>
      </p:sp>
      <p:sp>
        <p:nvSpPr>
          <p:cNvPr id="859483219" name="Shape 2"/>
          <p:cNvSpPr/>
          <p:nvPr/>
        </p:nvSpPr>
        <p:spPr bwMode="auto">
          <a:xfrm>
            <a:off x="496119" y="1752228"/>
            <a:ext cx="2717229" cy="2276847"/>
          </a:xfrm>
          <a:prstGeom prst="rect">
            <a:avLst/>
          </a:prstGeom>
          <a:solidFill>
            <a:srgbClr val="E8F3E8"/>
          </a:solidFill>
          <a:ln/>
        </p:spPr>
      </p:sp>
      <p:sp>
        <p:nvSpPr>
          <p:cNvPr id="1048341429" name="Text 3"/>
          <p:cNvSpPr/>
          <p:nvPr/>
        </p:nvSpPr>
        <p:spPr bwMode="auto">
          <a:xfrm>
            <a:off x="637877" y="1893987"/>
            <a:ext cx="2324621" cy="221456"/>
          </a:xfrm>
          <a:prstGeom prst="rect">
            <a:avLst/>
          </a:prstGeom>
          <a:noFill/>
          <a:ln/>
        </p:spPr>
        <p:txBody>
          <a:bodyPr wrap="none" lIns="0" tIns="0" rIns="0" bIns="0" rtlCol="0" anchor="t"/>
          <a:lstStyle/>
          <a:p>
            <a:pPr marL="0" indent="0" algn="l">
              <a:lnSpc>
                <a:spcPct val="104000"/>
              </a:lnSpc>
              <a:buNone/>
              <a:defRPr/>
            </a:pPr>
            <a:r>
              <a:rPr lang="en-US" sz="1350">
                <a:solidFill>
                  <a:srgbClr val="405449"/>
                </a:solidFill>
                <a:latin typeface="Fraunces ExtraBold"/>
                <a:ea typeface="Fraunces ExtraBold"/>
                <a:cs typeface="Fraunces ExtraBold"/>
              </a:rPr>
              <a:t>Traditional Failure Points</a:t>
            </a:r>
            <a:endParaRPr lang="en-US" sz="1350"/>
          </a:p>
        </p:txBody>
      </p:sp>
      <p:sp>
        <p:nvSpPr>
          <p:cNvPr id="1161524744" name="Text 4"/>
          <p:cNvSpPr/>
          <p:nvPr/>
        </p:nvSpPr>
        <p:spPr bwMode="auto">
          <a:xfrm>
            <a:off x="637877" y="2200498"/>
            <a:ext cx="2433711" cy="1686818"/>
          </a:xfrm>
          <a:prstGeom prst="rect">
            <a:avLst/>
          </a:prstGeom>
          <a:noFill/>
          <a:ln/>
        </p:spPr>
        <p:txBody>
          <a:bodyPr wrap="square" lIns="0" tIns="0" rIns="0" bIns="0" rtlCol="0" anchor="t">
            <a:normAutofit/>
          </a:bodyPr>
          <a:lstStyle/>
          <a:p>
            <a:pPr marL="342900" indent="-342900" algn="l">
              <a:lnSpc>
                <a:spcPct val="133000"/>
              </a:lnSpc>
              <a:buSzPct val="100000"/>
              <a:buChar char="•"/>
              <a:defRPr/>
            </a:pPr>
            <a:r>
              <a:rPr lang="en-US" sz="1100">
                <a:solidFill>
                  <a:srgbClr val="405449"/>
                </a:solidFill>
                <a:latin typeface="Nobile"/>
                <a:ea typeface="Nobile"/>
                <a:cs typeface="Nobile"/>
              </a:rPr>
              <a:t>Passwords: reusable, phishable, high churn</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Static MFA: bypassable via social engineering or push fatigue</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Rule-based systems: brittle, high maintenance</a:t>
            </a:r>
            <a:endParaRPr lang="en-US" sz="1100"/>
          </a:p>
        </p:txBody>
      </p:sp>
      <p:sp>
        <p:nvSpPr>
          <p:cNvPr id="353843565" name="Shape 5"/>
          <p:cNvSpPr/>
          <p:nvPr/>
        </p:nvSpPr>
        <p:spPr bwMode="auto">
          <a:xfrm>
            <a:off x="3213348" y="1752228"/>
            <a:ext cx="2717229" cy="2276847"/>
          </a:xfrm>
          <a:prstGeom prst="rect">
            <a:avLst/>
          </a:prstGeom>
          <a:solidFill>
            <a:srgbClr val="E8F3E8"/>
          </a:solidFill>
          <a:ln/>
        </p:spPr>
      </p:sp>
      <p:sp>
        <p:nvSpPr>
          <p:cNvPr id="2031595905" name="Shape 6"/>
          <p:cNvSpPr/>
          <p:nvPr/>
        </p:nvSpPr>
        <p:spPr bwMode="auto">
          <a:xfrm>
            <a:off x="3213348" y="1752228"/>
            <a:ext cx="19050" cy="2276847"/>
          </a:xfrm>
          <a:prstGeom prst="roundRect">
            <a:avLst>
              <a:gd name="adj" fmla="val 669768"/>
            </a:avLst>
          </a:prstGeom>
          <a:solidFill>
            <a:srgbClr val="CED9CE"/>
          </a:solidFill>
          <a:ln/>
        </p:spPr>
      </p:sp>
      <p:sp>
        <p:nvSpPr>
          <p:cNvPr id="1584141898" name="Text 7"/>
          <p:cNvSpPr/>
          <p:nvPr/>
        </p:nvSpPr>
        <p:spPr bwMode="auto">
          <a:xfrm>
            <a:off x="3355107" y="1893987"/>
            <a:ext cx="2427015" cy="221456"/>
          </a:xfrm>
          <a:prstGeom prst="rect">
            <a:avLst/>
          </a:prstGeom>
          <a:noFill/>
          <a:ln/>
        </p:spPr>
        <p:txBody>
          <a:bodyPr wrap="none" lIns="0" tIns="0" rIns="0" bIns="0" rtlCol="0" anchor="t"/>
          <a:lstStyle/>
          <a:p>
            <a:pPr marL="0" indent="0" algn="l">
              <a:lnSpc>
                <a:spcPct val="104000"/>
              </a:lnSpc>
              <a:buNone/>
              <a:defRPr/>
            </a:pPr>
            <a:r>
              <a:rPr lang="en-US" sz="1350">
                <a:solidFill>
                  <a:srgbClr val="405449"/>
                </a:solidFill>
                <a:latin typeface="Fraunces ExtraBold"/>
                <a:ea typeface="Fraunces ExtraBold"/>
                <a:cs typeface="Fraunces ExtraBold"/>
              </a:rPr>
              <a:t>Modern Threat Complexity</a:t>
            </a:r>
            <a:endParaRPr lang="en-US" sz="1350"/>
          </a:p>
        </p:txBody>
      </p:sp>
      <p:sp>
        <p:nvSpPr>
          <p:cNvPr id="512323506" name="Text 8"/>
          <p:cNvSpPr/>
          <p:nvPr/>
        </p:nvSpPr>
        <p:spPr bwMode="auto">
          <a:xfrm>
            <a:off x="3355107" y="2200498"/>
            <a:ext cx="2433711" cy="1460004"/>
          </a:xfrm>
          <a:prstGeom prst="rect">
            <a:avLst/>
          </a:prstGeom>
          <a:noFill/>
          <a:ln/>
        </p:spPr>
        <p:txBody>
          <a:bodyPr wrap="square" lIns="0" tIns="0" rIns="0" bIns="0" rtlCol="0" anchor="t">
            <a:normAutofit/>
          </a:bodyPr>
          <a:lstStyle/>
          <a:p>
            <a:pPr marL="342900" indent="-342900" algn="l">
              <a:lnSpc>
                <a:spcPct val="133000"/>
              </a:lnSpc>
              <a:buSzPct val="100000"/>
              <a:buChar char="•"/>
              <a:defRPr/>
            </a:pPr>
            <a:r>
              <a:rPr lang="en-US" sz="1100">
                <a:solidFill>
                  <a:srgbClr val="405449"/>
                </a:solidFill>
                <a:latin typeface="Nobile"/>
                <a:ea typeface="Nobile"/>
                <a:cs typeface="Nobile"/>
              </a:rPr>
              <a:t>Distributed botnets and credential stuffing at scale</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VPN/proxy obfuscation and IP churn</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Device spoofing and transient session hijacks</a:t>
            </a:r>
            <a:endParaRPr lang="en-US" sz="1100"/>
          </a:p>
        </p:txBody>
      </p:sp>
      <p:sp>
        <p:nvSpPr>
          <p:cNvPr id="105505165" name="Shape 9"/>
          <p:cNvSpPr/>
          <p:nvPr/>
        </p:nvSpPr>
        <p:spPr bwMode="auto">
          <a:xfrm>
            <a:off x="5930578" y="1752228"/>
            <a:ext cx="2717229" cy="2276847"/>
          </a:xfrm>
          <a:prstGeom prst="rect">
            <a:avLst/>
          </a:prstGeom>
          <a:solidFill>
            <a:srgbClr val="E8F3E8"/>
          </a:solidFill>
          <a:ln/>
        </p:spPr>
      </p:sp>
      <p:sp>
        <p:nvSpPr>
          <p:cNvPr id="88921472" name="Shape 10"/>
          <p:cNvSpPr/>
          <p:nvPr/>
        </p:nvSpPr>
        <p:spPr bwMode="auto">
          <a:xfrm>
            <a:off x="5930578" y="1752228"/>
            <a:ext cx="19050" cy="2276847"/>
          </a:xfrm>
          <a:prstGeom prst="roundRect">
            <a:avLst>
              <a:gd name="adj" fmla="val 669768"/>
            </a:avLst>
          </a:prstGeom>
          <a:solidFill>
            <a:srgbClr val="CED9CE"/>
          </a:solidFill>
          <a:ln/>
        </p:spPr>
      </p:sp>
      <p:sp>
        <p:nvSpPr>
          <p:cNvPr id="1086204822" name="Text 11"/>
          <p:cNvSpPr/>
          <p:nvPr/>
        </p:nvSpPr>
        <p:spPr bwMode="auto">
          <a:xfrm>
            <a:off x="6072336" y="1893987"/>
            <a:ext cx="2270522" cy="221456"/>
          </a:xfrm>
          <a:prstGeom prst="rect">
            <a:avLst/>
          </a:prstGeom>
          <a:noFill/>
          <a:ln/>
        </p:spPr>
        <p:txBody>
          <a:bodyPr wrap="none" lIns="0" tIns="0" rIns="0" bIns="0" rtlCol="0" anchor="t"/>
          <a:lstStyle/>
          <a:p>
            <a:pPr marL="0" indent="0" algn="l">
              <a:lnSpc>
                <a:spcPct val="104000"/>
              </a:lnSpc>
              <a:buNone/>
              <a:defRPr/>
            </a:pPr>
            <a:r>
              <a:rPr lang="en-US" sz="1350">
                <a:solidFill>
                  <a:srgbClr val="405449"/>
                </a:solidFill>
                <a:latin typeface="Fraunces ExtraBold"/>
                <a:ea typeface="Fraunces ExtraBold"/>
                <a:cs typeface="Fraunces ExtraBold"/>
              </a:rPr>
              <a:t>Core Detection Challenge</a:t>
            </a:r>
            <a:endParaRPr lang="en-US" sz="1350"/>
          </a:p>
        </p:txBody>
      </p:sp>
      <p:sp>
        <p:nvSpPr>
          <p:cNvPr id="788351681" name="Text 12"/>
          <p:cNvSpPr/>
          <p:nvPr/>
        </p:nvSpPr>
        <p:spPr bwMode="auto">
          <a:xfrm>
            <a:off x="6072336" y="2200498"/>
            <a:ext cx="2433711" cy="1360883"/>
          </a:xfrm>
          <a:prstGeom prst="rect">
            <a:avLst/>
          </a:prstGeom>
          <a:noFill/>
          <a:ln/>
        </p:spPr>
        <p:txBody>
          <a:bodyPr wrap="square" lIns="0" tIns="0" rIns="0" bIns="0" rtlCol="0" anchor="t">
            <a:normAutofit/>
          </a:bodyPr>
          <a:lstStyle/>
          <a:p>
            <a:pPr marL="0" indent="0" algn="l">
              <a:lnSpc>
                <a:spcPct val="133000"/>
              </a:lnSpc>
              <a:buNone/>
              <a:defRPr/>
            </a:pPr>
            <a:r>
              <a:rPr lang="en-US" sz="1100">
                <a:solidFill>
                  <a:srgbClr val="405449"/>
                </a:solidFill>
                <a:latin typeface="Nobile"/>
                <a:ea typeface="Nobile"/>
                <a:cs typeface="Nobile"/>
              </a:rPr>
              <a:t>Distinguish legitimate behavioral variance from malicious deviation in real time without degrading user experience — requires automated, data-driven risk scoring and feedback loops to improve models.</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708901039" name="Text 0"/>
          <p:cNvSpPr/>
          <p:nvPr/>
        </p:nvSpPr>
        <p:spPr bwMode="auto">
          <a:xfrm>
            <a:off x="1985664" y="407640"/>
            <a:ext cx="5172596" cy="315590"/>
          </a:xfrm>
          <a:prstGeom prst="rect">
            <a:avLst/>
          </a:prstGeom>
          <a:noFill/>
          <a:ln/>
        </p:spPr>
        <p:txBody>
          <a:bodyPr wrap="none" lIns="0" tIns="0" rIns="0" bIns="0" rtlCol="0" anchor="t"/>
          <a:lstStyle/>
          <a:p>
            <a:pPr marL="0" indent="0" algn="ctr">
              <a:lnSpc>
                <a:spcPct val="104000"/>
              </a:lnSpc>
              <a:buNone/>
              <a:defRPr/>
            </a:pPr>
            <a:r>
              <a:rPr lang="en-US" sz="1950">
                <a:solidFill>
                  <a:srgbClr val="3B4540"/>
                </a:solidFill>
                <a:latin typeface="Fraunces ExtraBold"/>
                <a:ea typeface="Fraunces ExtraBold"/>
                <a:cs typeface="Fraunces ExtraBold"/>
              </a:rPr>
              <a:t>Project Objectives — Execution Goals</a:t>
            </a:r>
            <a:endParaRPr lang="en-US" sz="1950"/>
          </a:p>
        </p:txBody>
      </p:sp>
      <p:pic>
        <p:nvPicPr>
          <p:cNvPr id="1546848111" name="Image 0" descr="preencoded.png"/>
          <p:cNvPicPr>
            <a:picLocks noChangeAspect="1"/>
          </p:cNvPicPr>
          <p:nvPr/>
        </p:nvPicPr>
        <p:blipFill>
          <a:blip r:embed="rId3"/>
          <a:stretch/>
        </p:blipFill>
        <p:spPr bwMode="auto">
          <a:xfrm>
            <a:off x="496119" y="948110"/>
            <a:ext cx="631254" cy="757535"/>
          </a:xfrm>
          <a:prstGeom prst="rect">
            <a:avLst/>
          </a:prstGeom>
        </p:spPr>
      </p:pic>
      <p:sp>
        <p:nvSpPr>
          <p:cNvPr id="747415136" name="Text 1"/>
          <p:cNvSpPr/>
          <p:nvPr/>
        </p:nvSpPr>
        <p:spPr bwMode="auto">
          <a:xfrm>
            <a:off x="1239813" y="1074316"/>
            <a:ext cx="2156296" cy="197272"/>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1. Detect Suspicious Logins</a:t>
            </a:r>
            <a:endParaRPr lang="en-US" sz="1200"/>
          </a:p>
        </p:txBody>
      </p:sp>
      <p:sp>
        <p:nvSpPr>
          <p:cNvPr id="832881276" name="Text 2"/>
          <p:cNvSpPr/>
          <p:nvPr/>
        </p:nvSpPr>
        <p:spPr bwMode="auto">
          <a:xfrm>
            <a:off x="1239813" y="1339007"/>
            <a:ext cx="7408068" cy="190946"/>
          </a:xfrm>
          <a:prstGeom prst="rect">
            <a:avLst/>
          </a:prstGeom>
          <a:noFill/>
          <a:ln/>
        </p:spPr>
        <p:txBody>
          <a:bodyPr wrap="none" lIns="0" tIns="0" rIns="0" bIns="0" rtlCol="0" anchor="t"/>
          <a:lstStyle/>
          <a:p>
            <a:pPr marL="0" indent="0" algn="l">
              <a:lnSpc>
                <a:spcPct val="126000"/>
              </a:lnSpc>
              <a:buNone/>
              <a:defRPr/>
            </a:pPr>
            <a:r>
              <a:rPr lang="en-US" sz="950">
                <a:solidFill>
                  <a:srgbClr val="405449"/>
                </a:solidFill>
                <a:latin typeface="Nobile"/>
                <a:ea typeface="Nobile"/>
                <a:cs typeface="Nobile"/>
              </a:rPr>
              <a:t>Real-time anomaly detection using telemetry and session context.</a:t>
            </a:r>
            <a:endParaRPr lang="en-US" sz="950"/>
          </a:p>
        </p:txBody>
      </p:sp>
      <p:pic>
        <p:nvPicPr>
          <p:cNvPr id="535403084" name="Image 1" descr="preencoded.png"/>
          <p:cNvPicPr>
            <a:picLocks noChangeAspect="1"/>
          </p:cNvPicPr>
          <p:nvPr/>
        </p:nvPicPr>
        <p:blipFill>
          <a:blip r:embed="rId4"/>
          <a:stretch/>
        </p:blipFill>
        <p:spPr bwMode="auto">
          <a:xfrm>
            <a:off x="496119" y="1705645"/>
            <a:ext cx="631254" cy="757535"/>
          </a:xfrm>
          <a:prstGeom prst="rect">
            <a:avLst/>
          </a:prstGeom>
        </p:spPr>
      </p:pic>
      <p:sp>
        <p:nvSpPr>
          <p:cNvPr id="563344056" name="Text 3"/>
          <p:cNvSpPr/>
          <p:nvPr/>
        </p:nvSpPr>
        <p:spPr bwMode="auto">
          <a:xfrm>
            <a:off x="1239813" y="1831851"/>
            <a:ext cx="2631951" cy="197272"/>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2. Compute Dynamic Risk Scores</a:t>
            </a:r>
            <a:endParaRPr lang="en-US" sz="1200"/>
          </a:p>
        </p:txBody>
      </p:sp>
      <p:sp>
        <p:nvSpPr>
          <p:cNvPr id="336815630" name="Text 4"/>
          <p:cNvSpPr/>
          <p:nvPr/>
        </p:nvSpPr>
        <p:spPr bwMode="auto">
          <a:xfrm>
            <a:off x="1239813" y="2096542"/>
            <a:ext cx="7408068" cy="190946"/>
          </a:xfrm>
          <a:prstGeom prst="rect">
            <a:avLst/>
          </a:prstGeom>
          <a:noFill/>
          <a:ln/>
        </p:spPr>
        <p:txBody>
          <a:bodyPr wrap="none" lIns="0" tIns="0" rIns="0" bIns="0" rtlCol="0" anchor="t"/>
          <a:lstStyle/>
          <a:p>
            <a:pPr marL="0" indent="0" algn="l">
              <a:lnSpc>
                <a:spcPct val="126000"/>
              </a:lnSpc>
              <a:buNone/>
              <a:defRPr/>
            </a:pPr>
            <a:r>
              <a:rPr lang="en-US" sz="950">
                <a:solidFill>
                  <a:srgbClr val="405449"/>
                </a:solidFill>
                <a:latin typeface="Nobile"/>
                <a:ea typeface="Nobile"/>
                <a:cs typeface="Nobile"/>
              </a:rPr>
              <a:t>Ensemble scoring (heuristics + ML) producing normalized risk metrics.</a:t>
            </a:r>
            <a:endParaRPr lang="en-US" sz="950"/>
          </a:p>
        </p:txBody>
      </p:sp>
      <p:pic>
        <p:nvPicPr>
          <p:cNvPr id="581903717" name="Image 2" descr="preencoded.png"/>
          <p:cNvPicPr>
            <a:picLocks noChangeAspect="1"/>
          </p:cNvPicPr>
          <p:nvPr/>
        </p:nvPicPr>
        <p:blipFill>
          <a:blip r:embed="rId5"/>
          <a:stretch/>
        </p:blipFill>
        <p:spPr bwMode="auto">
          <a:xfrm>
            <a:off x="496119" y="2463180"/>
            <a:ext cx="631254" cy="757535"/>
          </a:xfrm>
          <a:prstGeom prst="rect">
            <a:avLst/>
          </a:prstGeom>
        </p:spPr>
      </p:pic>
      <p:sp>
        <p:nvSpPr>
          <p:cNvPr id="1821553152" name="Text 5"/>
          <p:cNvSpPr/>
          <p:nvPr/>
        </p:nvSpPr>
        <p:spPr bwMode="auto">
          <a:xfrm>
            <a:off x="1239813" y="2589386"/>
            <a:ext cx="1772096" cy="197272"/>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3. Behavioral Analysis</a:t>
            </a:r>
            <a:endParaRPr lang="en-US" sz="1200"/>
          </a:p>
        </p:txBody>
      </p:sp>
      <p:sp>
        <p:nvSpPr>
          <p:cNvPr id="1938086612" name="Text 6"/>
          <p:cNvSpPr/>
          <p:nvPr/>
        </p:nvSpPr>
        <p:spPr bwMode="auto">
          <a:xfrm>
            <a:off x="1239813" y="2854077"/>
            <a:ext cx="7408068" cy="190946"/>
          </a:xfrm>
          <a:prstGeom prst="rect">
            <a:avLst/>
          </a:prstGeom>
          <a:noFill/>
          <a:ln/>
        </p:spPr>
        <p:txBody>
          <a:bodyPr wrap="none" lIns="0" tIns="0" rIns="0" bIns="0" rtlCol="0" anchor="t"/>
          <a:lstStyle/>
          <a:p>
            <a:pPr marL="0" indent="0" algn="l">
              <a:lnSpc>
                <a:spcPct val="126000"/>
              </a:lnSpc>
              <a:buNone/>
              <a:defRPr/>
            </a:pPr>
            <a:r>
              <a:rPr lang="en-US" sz="950">
                <a:solidFill>
                  <a:srgbClr val="405449"/>
                </a:solidFill>
                <a:latin typeface="Nobile"/>
                <a:ea typeface="Nobile"/>
                <a:cs typeface="Nobile"/>
              </a:rPr>
              <a:t>Profile user baselines and velocity models (temporal, geospatial, device).</a:t>
            </a:r>
            <a:endParaRPr lang="en-US" sz="950"/>
          </a:p>
        </p:txBody>
      </p:sp>
      <p:pic>
        <p:nvPicPr>
          <p:cNvPr id="1862099934" name="Image 3" descr="preencoded.png"/>
          <p:cNvPicPr>
            <a:picLocks noChangeAspect="1"/>
          </p:cNvPicPr>
          <p:nvPr/>
        </p:nvPicPr>
        <p:blipFill>
          <a:blip r:embed="rId6"/>
          <a:stretch/>
        </p:blipFill>
        <p:spPr bwMode="auto">
          <a:xfrm>
            <a:off x="496119" y="3220715"/>
            <a:ext cx="631254" cy="757535"/>
          </a:xfrm>
          <a:prstGeom prst="rect">
            <a:avLst/>
          </a:prstGeom>
        </p:spPr>
      </p:pic>
      <p:sp>
        <p:nvSpPr>
          <p:cNvPr id="60674901" name="Text 7"/>
          <p:cNvSpPr/>
          <p:nvPr/>
        </p:nvSpPr>
        <p:spPr bwMode="auto">
          <a:xfrm>
            <a:off x="1239813" y="3346921"/>
            <a:ext cx="2155850" cy="197272"/>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4. Generate Security Alerts</a:t>
            </a:r>
            <a:endParaRPr lang="en-US" sz="1200"/>
          </a:p>
        </p:txBody>
      </p:sp>
      <p:sp>
        <p:nvSpPr>
          <p:cNvPr id="1174584786" name="Text 8"/>
          <p:cNvSpPr/>
          <p:nvPr/>
        </p:nvSpPr>
        <p:spPr bwMode="auto">
          <a:xfrm>
            <a:off x="1239813" y="3611612"/>
            <a:ext cx="7408068" cy="190946"/>
          </a:xfrm>
          <a:prstGeom prst="rect">
            <a:avLst/>
          </a:prstGeom>
          <a:noFill/>
          <a:ln/>
        </p:spPr>
        <p:txBody>
          <a:bodyPr wrap="none" lIns="0" tIns="0" rIns="0" bIns="0" rtlCol="0" anchor="t"/>
          <a:lstStyle/>
          <a:p>
            <a:pPr marL="0" indent="0" algn="l">
              <a:lnSpc>
                <a:spcPct val="126000"/>
              </a:lnSpc>
              <a:buNone/>
              <a:defRPr/>
            </a:pPr>
            <a:r>
              <a:rPr lang="en-US" sz="950">
                <a:solidFill>
                  <a:srgbClr val="405449"/>
                </a:solidFill>
                <a:latin typeface="Nobile"/>
                <a:ea typeface="Nobile"/>
                <a:cs typeface="Nobile"/>
              </a:rPr>
              <a:t>Prioritized alerts with provenance for SecOps triage and incident response.</a:t>
            </a:r>
            <a:endParaRPr lang="en-US" sz="950"/>
          </a:p>
        </p:txBody>
      </p:sp>
      <p:pic>
        <p:nvPicPr>
          <p:cNvPr id="1192791972" name="Image 4" descr="preencoded.png"/>
          <p:cNvPicPr>
            <a:picLocks noChangeAspect="1"/>
          </p:cNvPicPr>
          <p:nvPr/>
        </p:nvPicPr>
        <p:blipFill>
          <a:blip r:embed="rId7"/>
          <a:stretch/>
        </p:blipFill>
        <p:spPr bwMode="auto">
          <a:xfrm>
            <a:off x="496119" y="3978250"/>
            <a:ext cx="631254" cy="757535"/>
          </a:xfrm>
          <a:prstGeom prst="rect">
            <a:avLst/>
          </a:prstGeom>
        </p:spPr>
      </p:pic>
      <p:sp>
        <p:nvSpPr>
          <p:cNvPr id="569983907" name="Text 9"/>
          <p:cNvSpPr/>
          <p:nvPr/>
        </p:nvSpPr>
        <p:spPr bwMode="auto">
          <a:xfrm>
            <a:off x="1239813" y="4104456"/>
            <a:ext cx="2046015" cy="197272"/>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5. Actionable Dashboards</a:t>
            </a:r>
            <a:endParaRPr lang="en-US" sz="1200"/>
          </a:p>
        </p:txBody>
      </p:sp>
      <p:sp>
        <p:nvSpPr>
          <p:cNvPr id="1025693093" name="Text 10"/>
          <p:cNvSpPr/>
          <p:nvPr/>
        </p:nvSpPr>
        <p:spPr bwMode="auto">
          <a:xfrm>
            <a:off x="1239813" y="4369147"/>
            <a:ext cx="7408068" cy="190946"/>
          </a:xfrm>
          <a:prstGeom prst="rect">
            <a:avLst/>
          </a:prstGeom>
          <a:noFill/>
          <a:ln/>
        </p:spPr>
        <p:txBody>
          <a:bodyPr wrap="none" lIns="0" tIns="0" rIns="0" bIns="0" rtlCol="0" anchor="t"/>
          <a:lstStyle/>
          <a:p>
            <a:pPr marL="0" indent="0" algn="l">
              <a:lnSpc>
                <a:spcPct val="126000"/>
              </a:lnSpc>
              <a:buNone/>
              <a:defRPr/>
            </a:pPr>
            <a:r>
              <a:rPr lang="en-US" sz="950">
                <a:solidFill>
                  <a:srgbClr val="405449"/>
                </a:solidFill>
                <a:latin typeface="Nobile"/>
                <a:ea typeface="Nobile"/>
                <a:cs typeface="Nobile"/>
              </a:rPr>
              <a:t>Operational dashboards and drilldowns for remediation and KPI tracking.</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235485849" name="Text 0"/>
          <p:cNvSpPr/>
          <p:nvPr/>
        </p:nvSpPr>
        <p:spPr bwMode="auto">
          <a:xfrm>
            <a:off x="1133029" y="503337"/>
            <a:ext cx="2421508" cy="249138"/>
          </a:xfrm>
          <a:prstGeom prst="rect">
            <a:avLst/>
          </a:prstGeom>
          <a:noFill/>
          <a:ln/>
        </p:spPr>
        <p:txBody>
          <a:bodyPr wrap="none" lIns="0" tIns="0" rIns="0" bIns="0" rtlCol="0" anchor="t"/>
          <a:lstStyle/>
          <a:p>
            <a:pPr marL="0" indent="0" algn="l">
              <a:lnSpc>
                <a:spcPct val="104000"/>
              </a:lnSpc>
              <a:buNone/>
              <a:defRPr/>
            </a:pPr>
            <a:r>
              <a:rPr lang="en-US" sz="1550">
                <a:solidFill>
                  <a:srgbClr val="3B4540"/>
                </a:solidFill>
                <a:latin typeface="Fraunces ExtraBold"/>
                <a:ea typeface="Fraunces ExtraBold"/>
                <a:cs typeface="Fraunces ExtraBold"/>
              </a:rPr>
              <a:t>Dataset Overview</a:t>
            </a:r>
            <a:endParaRPr lang="en-US" sz="1550"/>
          </a:p>
        </p:txBody>
      </p:sp>
      <p:sp>
        <p:nvSpPr>
          <p:cNvPr id="1160287073" name="Text 1"/>
          <p:cNvSpPr/>
          <p:nvPr/>
        </p:nvSpPr>
        <p:spPr bwMode="auto">
          <a:xfrm>
            <a:off x="1133029" y="822499"/>
            <a:ext cx="1964308" cy="814834"/>
          </a:xfrm>
          <a:prstGeom prst="rect">
            <a:avLst/>
          </a:prstGeom>
          <a:noFill/>
          <a:ln/>
        </p:spPr>
        <p:txBody>
          <a:bodyPr wrap="square" lIns="0" tIns="0" rIns="0" bIns="0" rtlCol="0" anchor="t">
            <a:normAutofit/>
          </a:bodyPr>
          <a:lstStyle/>
          <a:p>
            <a:pPr marL="0" indent="0" algn="l">
              <a:lnSpc>
                <a:spcPct val="113999"/>
              </a:lnSpc>
              <a:buNone/>
              <a:defRPr/>
            </a:pPr>
            <a:r>
              <a:rPr lang="en-US" sz="750">
                <a:solidFill>
                  <a:srgbClr val="405449"/>
                </a:solidFill>
                <a:latin typeface="Nobile"/>
                <a:ea typeface="Nobile"/>
                <a:cs typeface="Nobile"/>
              </a:rPr>
              <a:t>RBA Authentication Dataset — production-scale telemetry consisting of millions of login events. Ingestion cadence: streaming (events/sec) + batch backfills. Stored with versioning and audit metadata.</a:t>
            </a:r>
            <a:endParaRPr lang="en-US" sz="750"/>
          </a:p>
        </p:txBody>
      </p:sp>
      <p:sp>
        <p:nvSpPr>
          <p:cNvPr id="762569580" name="Text 2"/>
          <p:cNvSpPr/>
          <p:nvPr/>
        </p:nvSpPr>
        <p:spPr bwMode="auto">
          <a:xfrm>
            <a:off x="3345284" y="503337"/>
            <a:ext cx="2748483" cy="155674"/>
          </a:xfrm>
          <a:prstGeom prst="rect">
            <a:avLst/>
          </a:prstGeom>
          <a:noFill/>
          <a:ln/>
        </p:spPr>
        <p:txBody>
          <a:bodyPr wrap="none" lIns="0" tIns="0" rIns="0" bIns="0" rtlCol="0" anchor="t"/>
          <a:lstStyle/>
          <a:p>
            <a:pPr marL="0" indent="0" algn="l">
              <a:lnSpc>
                <a:spcPct val="104000"/>
              </a:lnSpc>
              <a:buNone/>
              <a:defRPr/>
            </a:pPr>
            <a:r>
              <a:rPr lang="en-US" sz="950">
                <a:solidFill>
                  <a:srgbClr val="3B4540"/>
                </a:solidFill>
                <a:latin typeface="Fraunces ExtraBold"/>
                <a:ea typeface="Fraunces ExtraBold"/>
                <a:cs typeface="Fraunces ExtraBold"/>
              </a:rPr>
              <a:t>Sample Attributes (schema preview)</a:t>
            </a:r>
            <a:endParaRPr lang="en-US" sz="950"/>
          </a:p>
        </p:txBody>
      </p:sp>
      <p:sp>
        <p:nvSpPr>
          <p:cNvPr id="773765746" name="Shape 3"/>
          <p:cNvSpPr/>
          <p:nvPr/>
        </p:nvSpPr>
        <p:spPr bwMode="auto">
          <a:xfrm>
            <a:off x="3345284" y="737815"/>
            <a:ext cx="4670301" cy="2762548"/>
          </a:xfrm>
          <a:prstGeom prst="roundRect">
            <a:avLst>
              <a:gd name="adj" fmla="val 3247"/>
            </a:avLst>
          </a:prstGeom>
          <a:noFill/>
          <a:ln w="4763">
            <a:solidFill>
              <a:srgbClr val="000000">
                <a:alpha val="7999"/>
              </a:srgbClr>
            </a:solidFill>
            <a:prstDash val="solid"/>
          </a:ln>
        </p:spPr>
      </p:sp>
      <p:sp>
        <p:nvSpPr>
          <p:cNvPr id="526560000" name="Shape 4"/>
          <p:cNvSpPr/>
          <p:nvPr/>
        </p:nvSpPr>
        <p:spPr bwMode="auto">
          <a:xfrm>
            <a:off x="3350047" y="742578"/>
            <a:ext cx="4660776" cy="229419"/>
          </a:xfrm>
          <a:prstGeom prst="rect">
            <a:avLst/>
          </a:prstGeom>
          <a:solidFill>
            <a:srgbClr val="FFFFFF">
              <a:alpha val="3999"/>
            </a:srgbClr>
          </a:solidFill>
          <a:ln/>
        </p:spPr>
      </p:sp>
      <p:sp>
        <p:nvSpPr>
          <p:cNvPr id="1917328297" name="Text 5"/>
          <p:cNvSpPr/>
          <p:nvPr/>
        </p:nvSpPr>
        <p:spPr bwMode="auto">
          <a:xfrm>
            <a:off x="3449762" y="789384"/>
            <a:ext cx="1571253" cy="135806"/>
          </a:xfrm>
          <a:prstGeom prst="rect">
            <a:avLst/>
          </a:prstGeom>
          <a:noFill/>
          <a:ln/>
        </p:spPr>
        <p:txBody>
          <a:bodyPr wrap="none" lIns="0" tIns="0" rIns="0" bIns="0" rtlCol="0" anchor="t"/>
          <a:lstStyle/>
          <a:p>
            <a:pPr marL="0" indent="0" algn="l">
              <a:lnSpc>
                <a:spcPct val="113999"/>
              </a:lnSpc>
              <a:buNone/>
              <a:defRPr/>
            </a:pPr>
            <a:r>
              <a:rPr lang="en-US" sz="750" b="1">
                <a:solidFill>
                  <a:srgbClr val="405449"/>
                </a:solidFill>
                <a:latin typeface="Nobile"/>
                <a:ea typeface="Nobile"/>
                <a:cs typeface="Nobile"/>
              </a:rPr>
              <a:t>Field</a:t>
            </a:r>
            <a:endParaRPr lang="en-US" sz="750"/>
          </a:p>
        </p:txBody>
      </p:sp>
      <p:sp>
        <p:nvSpPr>
          <p:cNvPr id="538659502" name="Text 6"/>
          <p:cNvSpPr/>
          <p:nvPr/>
        </p:nvSpPr>
        <p:spPr bwMode="auto">
          <a:xfrm>
            <a:off x="4767857" y="789384"/>
            <a:ext cx="3600524" cy="135806"/>
          </a:xfrm>
          <a:prstGeom prst="rect">
            <a:avLst/>
          </a:prstGeom>
          <a:noFill/>
          <a:ln/>
        </p:spPr>
        <p:txBody>
          <a:bodyPr wrap="none" lIns="0" tIns="0" rIns="0" bIns="0" rtlCol="0" anchor="t"/>
          <a:lstStyle/>
          <a:p>
            <a:pPr marL="0" indent="0" algn="l">
              <a:lnSpc>
                <a:spcPct val="113999"/>
              </a:lnSpc>
              <a:buNone/>
              <a:defRPr/>
            </a:pPr>
            <a:r>
              <a:rPr lang="en-US" sz="750" b="1">
                <a:solidFill>
                  <a:srgbClr val="405449"/>
                </a:solidFill>
                <a:latin typeface="Nobile"/>
                <a:ea typeface="Nobile"/>
                <a:cs typeface="Nobile"/>
              </a:rPr>
              <a:t>Description</a:t>
            </a:r>
            <a:endParaRPr lang="en-US" sz="750"/>
          </a:p>
        </p:txBody>
      </p:sp>
      <p:sp>
        <p:nvSpPr>
          <p:cNvPr id="1550523505" name="Shape 7"/>
          <p:cNvSpPr/>
          <p:nvPr/>
        </p:nvSpPr>
        <p:spPr bwMode="auto">
          <a:xfrm>
            <a:off x="3350047" y="971996"/>
            <a:ext cx="4660776" cy="229419"/>
          </a:xfrm>
          <a:prstGeom prst="rect">
            <a:avLst/>
          </a:prstGeom>
          <a:solidFill>
            <a:srgbClr val="000000">
              <a:alpha val="3999"/>
            </a:srgbClr>
          </a:solidFill>
          <a:ln/>
        </p:spPr>
      </p:sp>
      <p:sp>
        <p:nvSpPr>
          <p:cNvPr id="1808825332" name="Text 8"/>
          <p:cNvSpPr/>
          <p:nvPr/>
        </p:nvSpPr>
        <p:spPr bwMode="auto">
          <a:xfrm>
            <a:off x="3449762" y="1018803"/>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User_ID</a:t>
            </a:r>
            <a:endParaRPr lang="en-US" sz="750"/>
          </a:p>
        </p:txBody>
      </p:sp>
      <p:sp>
        <p:nvSpPr>
          <p:cNvPr id="1533391521" name="Text 9"/>
          <p:cNvSpPr/>
          <p:nvPr/>
        </p:nvSpPr>
        <p:spPr bwMode="auto">
          <a:xfrm>
            <a:off x="4767857" y="1018803"/>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Unique user identifier (hashed)</a:t>
            </a:r>
            <a:endParaRPr lang="en-US" sz="750"/>
          </a:p>
        </p:txBody>
      </p:sp>
      <p:sp>
        <p:nvSpPr>
          <p:cNvPr id="511027444" name="Shape 10"/>
          <p:cNvSpPr/>
          <p:nvPr/>
        </p:nvSpPr>
        <p:spPr bwMode="auto">
          <a:xfrm>
            <a:off x="3350047" y="1201415"/>
            <a:ext cx="4660776" cy="229419"/>
          </a:xfrm>
          <a:prstGeom prst="rect">
            <a:avLst/>
          </a:prstGeom>
          <a:solidFill>
            <a:srgbClr val="FFFFFF">
              <a:alpha val="3999"/>
            </a:srgbClr>
          </a:solidFill>
          <a:ln/>
        </p:spPr>
      </p:sp>
      <p:sp>
        <p:nvSpPr>
          <p:cNvPr id="1146527048" name="Text 11"/>
          <p:cNvSpPr/>
          <p:nvPr/>
        </p:nvSpPr>
        <p:spPr bwMode="auto">
          <a:xfrm>
            <a:off x="3449762" y="1248221"/>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Login_Time</a:t>
            </a:r>
            <a:endParaRPr lang="en-US" sz="750"/>
          </a:p>
        </p:txBody>
      </p:sp>
      <p:sp>
        <p:nvSpPr>
          <p:cNvPr id="893520430" name="Text 12"/>
          <p:cNvSpPr/>
          <p:nvPr/>
        </p:nvSpPr>
        <p:spPr bwMode="auto">
          <a:xfrm>
            <a:off x="4767857" y="1248221"/>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Event timestamp (UTC)</a:t>
            </a:r>
            <a:endParaRPr lang="en-US" sz="750"/>
          </a:p>
        </p:txBody>
      </p:sp>
      <p:sp>
        <p:nvSpPr>
          <p:cNvPr id="309072216" name="Shape 13"/>
          <p:cNvSpPr/>
          <p:nvPr/>
        </p:nvSpPr>
        <p:spPr bwMode="auto">
          <a:xfrm>
            <a:off x="3350047" y="1430834"/>
            <a:ext cx="4660776" cy="229419"/>
          </a:xfrm>
          <a:prstGeom prst="rect">
            <a:avLst/>
          </a:prstGeom>
          <a:solidFill>
            <a:srgbClr val="000000">
              <a:alpha val="3999"/>
            </a:srgbClr>
          </a:solidFill>
          <a:ln/>
        </p:spPr>
      </p:sp>
      <p:sp>
        <p:nvSpPr>
          <p:cNvPr id="1715891628" name="Text 14"/>
          <p:cNvSpPr/>
          <p:nvPr/>
        </p:nvSpPr>
        <p:spPr bwMode="auto">
          <a:xfrm>
            <a:off x="3449762" y="1477639"/>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IP_Address</a:t>
            </a:r>
            <a:endParaRPr lang="en-US" sz="750"/>
          </a:p>
        </p:txBody>
      </p:sp>
      <p:sp>
        <p:nvSpPr>
          <p:cNvPr id="602375445" name="Text 15"/>
          <p:cNvSpPr/>
          <p:nvPr/>
        </p:nvSpPr>
        <p:spPr bwMode="auto">
          <a:xfrm>
            <a:off x="4767857" y="1477639"/>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Client IP / subnet fingerprint</a:t>
            </a:r>
            <a:endParaRPr lang="en-US" sz="750"/>
          </a:p>
        </p:txBody>
      </p:sp>
      <p:sp>
        <p:nvSpPr>
          <p:cNvPr id="2133316759" name="Shape 16"/>
          <p:cNvSpPr/>
          <p:nvPr/>
        </p:nvSpPr>
        <p:spPr bwMode="auto">
          <a:xfrm>
            <a:off x="3350047" y="1660252"/>
            <a:ext cx="4660776" cy="229419"/>
          </a:xfrm>
          <a:prstGeom prst="rect">
            <a:avLst/>
          </a:prstGeom>
          <a:solidFill>
            <a:srgbClr val="FFFFFF">
              <a:alpha val="3999"/>
            </a:srgbClr>
          </a:solidFill>
          <a:ln/>
        </p:spPr>
      </p:sp>
      <p:sp>
        <p:nvSpPr>
          <p:cNvPr id="428329692" name="Text 17"/>
          <p:cNvSpPr/>
          <p:nvPr/>
        </p:nvSpPr>
        <p:spPr bwMode="auto">
          <a:xfrm>
            <a:off x="3449762" y="1707059"/>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Device_Type</a:t>
            </a:r>
            <a:endParaRPr lang="en-US" sz="750"/>
          </a:p>
        </p:txBody>
      </p:sp>
      <p:sp>
        <p:nvSpPr>
          <p:cNvPr id="1861324341" name="Text 18"/>
          <p:cNvSpPr/>
          <p:nvPr/>
        </p:nvSpPr>
        <p:spPr bwMode="auto">
          <a:xfrm>
            <a:off x="4767857" y="1707059"/>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Device classification (mobile/desktop)</a:t>
            </a:r>
            <a:endParaRPr lang="en-US" sz="750"/>
          </a:p>
        </p:txBody>
      </p:sp>
      <p:sp>
        <p:nvSpPr>
          <p:cNvPr id="573265443" name="Shape 19"/>
          <p:cNvSpPr/>
          <p:nvPr/>
        </p:nvSpPr>
        <p:spPr bwMode="auto">
          <a:xfrm>
            <a:off x="3350047" y="1889671"/>
            <a:ext cx="4660776" cy="229419"/>
          </a:xfrm>
          <a:prstGeom prst="rect">
            <a:avLst/>
          </a:prstGeom>
          <a:solidFill>
            <a:srgbClr val="000000">
              <a:alpha val="3999"/>
            </a:srgbClr>
          </a:solidFill>
          <a:ln/>
        </p:spPr>
      </p:sp>
      <p:sp>
        <p:nvSpPr>
          <p:cNvPr id="1344847487" name="Text 20"/>
          <p:cNvSpPr/>
          <p:nvPr/>
        </p:nvSpPr>
        <p:spPr bwMode="auto">
          <a:xfrm>
            <a:off x="3449762" y="1936477"/>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Country</a:t>
            </a:r>
            <a:endParaRPr lang="en-US" sz="750"/>
          </a:p>
        </p:txBody>
      </p:sp>
      <p:sp>
        <p:nvSpPr>
          <p:cNvPr id="1379678190" name="Text 21"/>
          <p:cNvSpPr/>
          <p:nvPr/>
        </p:nvSpPr>
        <p:spPr bwMode="auto">
          <a:xfrm>
            <a:off x="4767857" y="1936477"/>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Geo-resolved country</a:t>
            </a:r>
            <a:endParaRPr lang="en-US" sz="750"/>
          </a:p>
        </p:txBody>
      </p:sp>
      <p:sp>
        <p:nvSpPr>
          <p:cNvPr id="1204024896" name="Shape 22"/>
          <p:cNvSpPr/>
          <p:nvPr/>
        </p:nvSpPr>
        <p:spPr bwMode="auto">
          <a:xfrm>
            <a:off x="3350047" y="2119089"/>
            <a:ext cx="4660776" cy="229419"/>
          </a:xfrm>
          <a:prstGeom prst="rect">
            <a:avLst/>
          </a:prstGeom>
          <a:solidFill>
            <a:srgbClr val="FFFFFF">
              <a:alpha val="3999"/>
            </a:srgbClr>
          </a:solidFill>
          <a:ln/>
        </p:spPr>
      </p:sp>
      <p:sp>
        <p:nvSpPr>
          <p:cNvPr id="232428942" name="Text 23"/>
          <p:cNvSpPr/>
          <p:nvPr/>
        </p:nvSpPr>
        <p:spPr bwMode="auto">
          <a:xfrm>
            <a:off x="3449762" y="2165896"/>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Browser</a:t>
            </a:r>
            <a:endParaRPr lang="en-US" sz="750"/>
          </a:p>
        </p:txBody>
      </p:sp>
      <p:sp>
        <p:nvSpPr>
          <p:cNvPr id="852483108" name="Text 24"/>
          <p:cNvSpPr/>
          <p:nvPr/>
        </p:nvSpPr>
        <p:spPr bwMode="auto">
          <a:xfrm>
            <a:off x="4767857" y="2165896"/>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UA family and version</a:t>
            </a:r>
            <a:endParaRPr lang="en-US" sz="750"/>
          </a:p>
        </p:txBody>
      </p:sp>
      <p:sp>
        <p:nvSpPr>
          <p:cNvPr id="1331227358" name="Shape 25"/>
          <p:cNvSpPr/>
          <p:nvPr/>
        </p:nvSpPr>
        <p:spPr bwMode="auto">
          <a:xfrm>
            <a:off x="3350047" y="2348508"/>
            <a:ext cx="4660776" cy="229419"/>
          </a:xfrm>
          <a:prstGeom prst="rect">
            <a:avLst/>
          </a:prstGeom>
          <a:solidFill>
            <a:srgbClr val="000000">
              <a:alpha val="3999"/>
            </a:srgbClr>
          </a:solidFill>
          <a:ln/>
        </p:spPr>
      </p:sp>
      <p:sp>
        <p:nvSpPr>
          <p:cNvPr id="2083973086" name="Text 26"/>
          <p:cNvSpPr/>
          <p:nvPr/>
        </p:nvSpPr>
        <p:spPr bwMode="auto">
          <a:xfrm>
            <a:off x="3449762" y="2395314"/>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Failed_Attempts</a:t>
            </a:r>
            <a:endParaRPr lang="en-US" sz="750"/>
          </a:p>
        </p:txBody>
      </p:sp>
      <p:sp>
        <p:nvSpPr>
          <p:cNvPr id="1716684362" name="Text 27"/>
          <p:cNvSpPr/>
          <p:nvPr/>
        </p:nvSpPr>
        <p:spPr bwMode="auto">
          <a:xfrm>
            <a:off x="4767857" y="2395314"/>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Consecutive failures prior to success</a:t>
            </a:r>
            <a:endParaRPr lang="en-US" sz="750"/>
          </a:p>
        </p:txBody>
      </p:sp>
      <p:sp>
        <p:nvSpPr>
          <p:cNvPr id="52257691" name="Shape 28"/>
          <p:cNvSpPr/>
          <p:nvPr/>
        </p:nvSpPr>
        <p:spPr bwMode="auto">
          <a:xfrm>
            <a:off x="3350047" y="2577926"/>
            <a:ext cx="4660776" cy="229419"/>
          </a:xfrm>
          <a:prstGeom prst="rect">
            <a:avLst/>
          </a:prstGeom>
          <a:solidFill>
            <a:srgbClr val="FFFFFF">
              <a:alpha val="3999"/>
            </a:srgbClr>
          </a:solidFill>
          <a:ln/>
        </p:spPr>
      </p:sp>
      <p:sp>
        <p:nvSpPr>
          <p:cNvPr id="963384378" name="Text 29"/>
          <p:cNvSpPr/>
          <p:nvPr/>
        </p:nvSpPr>
        <p:spPr bwMode="auto">
          <a:xfrm>
            <a:off x="3449762" y="2624733"/>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VPN_Used</a:t>
            </a:r>
            <a:endParaRPr lang="en-US" sz="750"/>
          </a:p>
        </p:txBody>
      </p:sp>
      <p:sp>
        <p:nvSpPr>
          <p:cNvPr id="1368372724" name="Text 30"/>
          <p:cNvSpPr/>
          <p:nvPr/>
        </p:nvSpPr>
        <p:spPr bwMode="auto">
          <a:xfrm>
            <a:off x="4767857" y="2624733"/>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Boolean flag for known proxy/VPN</a:t>
            </a:r>
            <a:endParaRPr lang="en-US" sz="750"/>
          </a:p>
        </p:txBody>
      </p:sp>
      <p:sp>
        <p:nvSpPr>
          <p:cNvPr id="1833746849" name="Shape 31"/>
          <p:cNvSpPr/>
          <p:nvPr/>
        </p:nvSpPr>
        <p:spPr bwMode="auto">
          <a:xfrm>
            <a:off x="3350047" y="2807345"/>
            <a:ext cx="4660776" cy="229419"/>
          </a:xfrm>
          <a:prstGeom prst="rect">
            <a:avLst/>
          </a:prstGeom>
          <a:solidFill>
            <a:srgbClr val="000000">
              <a:alpha val="3999"/>
            </a:srgbClr>
          </a:solidFill>
          <a:ln/>
        </p:spPr>
      </p:sp>
      <p:sp>
        <p:nvSpPr>
          <p:cNvPr id="1401009325" name="Text 32"/>
          <p:cNvSpPr/>
          <p:nvPr/>
        </p:nvSpPr>
        <p:spPr bwMode="auto">
          <a:xfrm>
            <a:off x="3449762" y="2854151"/>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New_Device</a:t>
            </a:r>
            <a:endParaRPr lang="en-US" sz="750"/>
          </a:p>
        </p:txBody>
      </p:sp>
      <p:sp>
        <p:nvSpPr>
          <p:cNvPr id="1944046748" name="Text 33"/>
          <p:cNvSpPr/>
          <p:nvPr/>
        </p:nvSpPr>
        <p:spPr bwMode="auto">
          <a:xfrm>
            <a:off x="4767857" y="2854151"/>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Boolean if unseen device fingerprint</a:t>
            </a:r>
            <a:endParaRPr lang="en-US" sz="750"/>
          </a:p>
        </p:txBody>
      </p:sp>
      <p:sp>
        <p:nvSpPr>
          <p:cNvPr id="1748653427" name="Shape 34"/>
          <p:cNvSpPr/>
          <p:nvPr/>
        </p:nvSpPr>
        <p:spPr bwMode="auto">
          <a:xfrm>
            <a:off x="3350047" y="3036763"/>
            <a:ext cx="4660776" cy="229419"/>
          </a:xfrm>
          <a:prstGeom prst="rect">
            <a:avLst/>
          </a:prstGeom>
          <a:solidFill>
            <a:srgbClr val="FFFFFF">
              <a:alpha val="3999"/>
            </a:srgbClr>
          </a:solidFill>
          <a:ln/>
        </p:spPr>
      </p:sp>
      <p:sp>
        <p:nvSpPr>
          <p:cNvPr id="1344824741" name="Text 35"/>
          <p:cNvSpPr/>
          <p:nvPr/>
        </p:nvSpPr>
        <p:spPr bwMode="auto">
          <a:xfrm>
            <a:off x="3449762" y="3083570"/>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New_Location</a:t>
            </a:r>
            <a:endParaRPr lang="en-US" sz="750"/>
          </a:p>
        </p:txBody>
      </p:sp>
      <p:sp>
        <p:nvSpPr>
          <p:cNvPr id="1060693819" name="Text 36"/>
          <p:cNvSpPr/>
          <p:nvPr/>
        </p:nvSpPr>
        <p:spPr bwMode="auto">
          <a:xfrm>
            <a:off x="4767857" y="3083570"/>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Boolean if location deviates from baseline</a:t>
            </a:r>
            <a:endParaRPr lang="en-US" sz="750"/>
          </a:p>
        </p:txBody>
      </p:sp>
      <p:sp>
        <p:nvSpPr>
          <p:cNvPr id="1857579147" name="Shape 37"/>
          <p:cNvSpPr/>
          <p:nvPr/>
        </p:nvSpPr>
        <p:spPr bwMode="auto">
          <a:xfrm>
            <a:off x="3350047" y="3266182"/>
            <a:ext cx="4660776" cy="229419"/>
          </a:xfrm>
          <a:prstGeom prst="rect">
            <a:avLst/>
          </a:prstGeom>
          <a:solidFill>
            <a:srgbClr val="000000">
              <a:alpha val="3999"/>
            </a:srgbClr>
          </a:solidFill>
          <a:ln/>
        </p:spPr>
      </p:sp>
      <p:sp>
        <p:nvSpPr>
          <p:cNvPr id="1624496877" name="Text 38"/>
          <p:cNvSpPr/>
          <p:nvPr/>
        </p:nvSpPr>
        <p:spPr bwMode="auto">
          <a:xfrm>
            <a:off x="3449762" y="3312988"/>
            <a:ext cx="1571253"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Fraud_Label</a:t>
            </a:r>
            <a:endParaRPr lang="en-US" sz="750"/>
          </a:p>
        </p:txBody>
      </p:sp>
      <p:sp>
        <p:nvSpPr>
          <p:cNvPr id="2023202717" name="Text 39"/>
          <p:cNvSpPr/>
          <p:nvPr/>
        </p:nvSpPr>
        <p:spPr bwMode="auto">
          <a:xfrm>
            <a:off x="4767857" y="3312988"/>
            <a:ext cx="3600524"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Post-hoc label: confirmed compromise / benign</a:t>
            </a:r>
            <a:endParaRPr lang="en-US" sz="750"/>
          </a:p>
        </p:txBody>
      </p:sp>
      <p:sp>
        <p:nvSpPr>
          <p:cNvPr id="1268036471" name="Text 40"/>
          <p:cNvSpPr/>
          <p:nvPr/>
        </p:nvSpPr>
        <p:spPr bwMode="auto">
          <a:xfrm>
            <a:off x="3345284" y="3579168"/>
            <a:ext cx="5127501" cy="135806"/>
          </a:xfrm>
          <a:prstGeom prst="rect">
            <a:avLst/>
          </a:prstGeom>
          <a:noFill/>
          <a:ln/>
        </p:spPr>
        <p:txBody>
          <a:bodyPr wrap="none" lIns="0" tIns="0" rIns="0" bIns="0" rtlCol="0" anchor="t"/>
          <a:lstStyle/>
          <a:p>
            <a:pPr marL="0" indent="0" algn="l">
              <a:lnSpc>
                <a:spcPct val="113999"/>
              </a:lnSpc>
              <a:buNone/>
              <a:defRPr/>
            </a:pPr>
            <a:r>
              <a:rPr lang="en-US" sz="750">
                <a:solidFill>
                  <a:srgbClr val="405449"/>
                </a:solidFill>
                <a:latin typeface="Nobile"/>
                <a:ea typeface="Nobile"/>
                <a:cs typeface="Nobile"/>
              </a:rPr>
              <a:t>Note: All PII is tokenized/hashes; IPs are kept in truncated form for privacy-compliant analytics.</a:t>
            </a:r>
            <a:endParaRPr lang="en-US" sz="750"/>
          </a:p>
        </p:txBody>
      </p:sp>
      <p:pic>
        <p:nvPicPr>
          <p:cNvPr id="1841858383" name="Image 0" descr="preencoded.png"/>
          <p:cNvPicPr>
            <a:picLocks noChangeAspect="1"/>
          </p:cNvPicPr>
          <p:nvPr/>
        </p:nvPicPr>
        <p:blipFill>
          <a:blip r:embed="rId3">
            <a:extLst>
              <a:ext uri="{96DAC541-7B7A-43D3-8B79-37D633B846F1}">
                <asvg:svgBlip xmlns:asvg="http://schemas.microsoft.com/office/drawing/2016/SVG/main" r:embed="rId4"/>
              </a:ext>
            </a:extLst>
          </a:blip>
          <a:stretch/>
        </p:blipFill>
        <p:spPr bwMode="auto">
          <a:xfrm>
            <a:off x="1133029" y="3856806"/>
            <a:ext cx="6877869" cy="853379"/>
          </a:xfrm>
          <a:prstGeom prst="rect">
            <a:avLst/>
          </a:prstGeom>
        </p:spPr>
      </p:pic>
      <p:sp>
        <p:nvSpPr>
          <p:cNvPr id="1241699568" name="Text 41"/>
          <p:cNvSpPr/>
          <p:nvPr/>
        </p:nvSpPr>
        <p:spPr bwMode="auto">
          <a:xfrm>
            <a:off x="1232669" y="3956447"/>
            <a:ext cx="1245989" cy="155674"/>
          </a:xfrm>
          <a:prstGeom prst="rect">
            <a:avLst/>
          </a:prstGeom>
          <a:noFill/>
          <a:ln/>
        </p:spPr>
        <p:txBody>
          <a:bodyPr wrap="none" lIns="0" tIns="0" rIns="0" bIns="0" rtlCol="0" anchor="t"/>
          <a:lstStyle/>
          <a:p>
            <a:pPr marL="0" indent="0" algn="l">
              <a:lnSpc>
                <a:spcPct val="104000"/>
              </a:lnSpc>
              <a:buNone/>
              <a:defRPr/>
            </a:pPr>
            <a:r>
              <a:rPr lang="en-US" sz="950">
                <a:solidFill>
                  <a:srgbClr val="405449"/>
                </a:solidFill>
                <a:latin typeface="Fraunces ExtraBold"/>
                <a:ea typeface="Fraunces ExtraBold"/>
                <a:cs typeface="Fraunces ExtraBold"/>
              </a:rPr>
              <a:t>Key Metrics</a:t>
            </a:r>
            <a:endParaRPr lang="en-US" sz="950"/>
          </a:p>
        </p:txBody>
      </p:sp>
      <p:sp>
        <p:nvSpPr>
          <p:cNvPr id="592545495" name="Text 42"/>
          <p:cNvSpPr/>
          <p:nvPr/>
        </p:nvSpPr>
        <p:spPr bwMode="auto">
          <a:xfrm>
            <a:off x="1232669" y="4154165"/>
            <a:ext cx="6678588" cy="456381"/>
          </a:xfrm>
          <a:prstGeom prst="rect">
            <a:avLst/>
          </a:prstGeom>
          <a:noFill/>
          <a:ln/>
        </p:spPr>
        <p:txBody>
          <a:bodyPr wrap="square" lIns="0" tIns="0" rIns="0" bIns="0" rtlCol="0" anchor="t">
            <a:normAutofit/>
          </a:bodyPr>
          <a:lstStyle/>
          <a:p>
            <a:pPr marL="342900" indent="-342900" algn="l">
              <a:lnSpc>
                <a:spcPct val="113999"/>
              </a:lnSpc>
              <a:buSzPct val="100000"/>
              <a:buChar char="•"/>
              <a:defRPr/>
            </a:pPr>
            <a:r>
              <a:rPr lang="en-US" sz="750">
                <a:solidFill>
                  <a:srgbClr val="405449"/>
                </a:solidFill>
                <a:latin typeface="Nobile"/>
                <a:ea typeface="Nobile"/>
                <a:cs typeface="Nobile"/>
              </a:rPr>
              <a:t>Records: millions (event-level)</a:t>
            </a:r>
            <a:endParaRPr lang="en-US" sz="750"/>
          </a:p>
          <a:p>
            <a:pPr marL="342900" indent="-342900" algn="l">
              <a:lnSpc>
                <a:spcPct val="113999"/>
              </a:lnSpc>
              <a:buSzPct val="100000"/>
              <a:buChar char="•"/>
              <a:defRPr/>
            </a:pPr>
            <a:r>
              <a:rPr lang="en-US" sz="750">
                <a:solidFill>
                  <a:srgbClr val="405449"/>
                </a:solidFill>
                <a:latin typeface="Nobile"/>
                <a:ea typeface="Nobile"/>
                <a:cs typeface="Nobile"/>
              </a:rPr>
              <a:t>Retention: 12+ months raw; aggregated summaries retained longer</a:t>
            </a:r>
            <a:endParaRPr lang="en-US" sz="750"/>
          </a:p>
          <a:p>
            <a:pPr marL="342900" indent="-342900" algn="l">
              <a:lnSpc>
                <a:spcPct val="113999"/>
              </a:lnSpc>
              <a:buSzPct val="100000"/>
              <a:buChar char="•"/>
              <a:defRPr/>
            </a:pPr>
            <a:r>
              <a:rPr lang="en-US" sz="750">
                <a:solidFill>
                  <a:srgbClr val="405449"/>
                </a:solidFill>
                <a:latin typeface="Nobile"/>
                <a:ea typeface="Nobile"/>
                <a:cs typeface="Nobile"/>
              </a:rPr>
              <a:t>Cardinality: high for IPs, device IDs, UA strings</a:t>
            </a:r>
            <a:endParaRPr lang="en-US" sz="7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1171678439" name="Text 0"/>
          <p:cNvSpPr/>
          <p:nvPr/>
        </p:nvSpPr>
        <p:spPr bwMode="auto">
          <a:xfrm>
            <a:off x="3235821" y="392905"/>
            <a:ext cx="2672283" cy="276895"/>
          </a:xfrm>
          <a:prstGeom prst="rect">
            <a:avLst/>
          </a:prstGeom>
          <a:noFill/>
          <a:ln/>
        </p:spPr>
        <p:txBody>
          <a:bodyPr wrap="none" lIns="0" tIns="0" rIns="0" bIns="0" rtlCol="0" anchor="t"/>
          <a:lstStyle/>
          <a:p>
            <a:pPr marL="0" indent="0" algn="ctr">
              <a:lnSpc>
                <a:spcPct val="104000"/>
              </a:lnSpc>
              <a:buNone/>
              <a:defRPr/>
            </a:pPr>
            <a:r>
              <a:rPr lang="en-US" sz="1700">
                <a:solidFill>
                  <a:srgbClr val="3B4540"/>
                </a:solidFill>
                <a:latin typeface="Fraunces ExtraBold"/>
                <a:ea typeface="Fraunces ExtraBold"/>
                <a:cs typeface="Fraunces ExtraBold"/>
              </a:rPr>
              <a:t>Technology Stack</a:t>
            </a:r>
            <a:endParaRPr lang="en-US" sz="1700"/>
          </a:p>
        </p:txBody>
      </p:sp>
      <p:pic>
        <p:nvPicPr>
          <p:cNvPr id="396801116" name="Image 0" descr="preencoded.png"/>
          <p:cNvPicPr>
            <a:picLocks noChangeAspect="1"/>
          </p:cNvPicPr>
          <p:nvPr/>
        </p:nvPicPr>
        <p:blipFill>
          <a:blip r:embed="rId3"/>
          <a:stretch/>
        </p:blipFill>
        <p:spPr bwMode="auto">
          <a:xfrm>
            <a:off x="750912" y="842814"/>
            <a:ext cx="1060996" cy="1060996"/>
          </a:xfrm>
          <a:prstGeom prst="rect">
            <a:avLst/>
          </a:prstGeom>
        </p:spPr>
      </p:pic>
      <p:sp>
        <p:nvSpPr>
          <p:cNvPr id="833075273" name="Text 1"/>
          <p:cNvSpPr/>
          <p:nvPr/>
        </p:nvSpPr>
        <p:spPr bwMode="auto">
          <a:xfrm>
            <a:off x="750912" y="2011932"/>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Python</a:t>
            </a:r>
            <a:endParaRPr lang="en-US" sz="1050"/>
          </a:p>
        </p:txBody>
      </p:sp>
      <p:sp>
        <p:nvSpPr>
          <p:cNvPr id="1649598574" name="Text 2"/>
          <p:cNvSpPr/>
          <p:nvPr/>
        </p:nvSpPr>
        <p:spPr bwMode="auto">
          <a:xfrm>
            <a:off x="750912" y="2236812"/>
            <a:ext cx="1829395"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Primary scripting language for ETL, feature engineering, and model orchestration.</a:t>
            </a:r>
            <a:endParaRPr lang="en-US" sz="850"/>
          </a:p>
        </p:txBody>
      </p:sp>
      <p:pic>
        <p:nvPicPr>
          <p:cNvPr id="1097421708" name="Image 1" descr="preencoded.png"/>
          <p:cNvPicPr>
            <a:picLocks noChangeAspect="1"/>
          </p:cNvPicPr>
          <p:nvPr/>
        </p:nvPicPr>
        <p:blipFill>
          <a:blip r:embed="rId4"/>
          <a:stretch/>
        </p:blipFill>
        <p:spPr bwMode="auto">
          <a:xfrm>
            <a:off x="2688431" y="842814"/>
            <a:ext cx="1061070" cy="1061070"/>
          </a:xfrm>
          <a:prstGeom prst="rect">
            <a:avLst/>
          </a:prstGeom>
        </p:spPr>
      </p:pic>
      <p:sp>
        <p:nvSpPr>
          <p:cNvPr id="1442340255" name="Text 3"/>
          <p:cNvSpPr/>
          <p:nvPr/>
        </p:nvSpPr>
        <p:spPr bwMode="auto">
          <a:xfrm>
            <a:off x="2688431" y="2012007"/>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Pandas</a:t>
            </a:r>
            <a:endParaRPr lang="en-US" sz="1050"/>
          </a:p>
        </p:txBody>
      </p:sp>
      <p:sp>
        <p:nvSpPr>
          <p:cNvPr id="1316263401" name="Text 4"/>
          <p:cNvSpPr/>
          <p:nvPr/>
        </p:nvSpPr>
        <p:spPr bwMode="auto">
          <a:xfrm>
            <a:off x="2688431" y="2236887"/>
            <a:ext cx="1829470" cy="315516"/>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Exploratory data transforms and in-memory feature pivots.</a:t>
            </a:r>
            <a:endParaRPr lang="en-US" sz="850"/>
          </a:p>
        </p:txBody>
      </p:sp>
      <p:pic>
        <p:nvPicPr>
          <p:cNvPr id="1945069174" name="Image 2" descr="preencoded.png"/>
          <p:cNvPicPr>
            <a:picLocks noChangeAspect="1"/>
          </p:cNvPicPr>
          <p:nvPr/>
        </p:nvPicPr>
        <p:blipFill>
          <a:blip r:embed="rId5"/>
          <a:stretch/>
        </p:blipFill>
        <p:spPr bwMode="auto">
          <a:xfrm>
            <a:off x="4626025" y="842814"/>
            <a:ext cx="1060996" cy="1060996"/>
          </a:xfrm>
          <a:prstGeom prst="rect">
            <a:avLst/>
          </a:prstGeom>
        </p:spPr>
      </p:pic>
      <p:sp>
        <p:nvSpPr>
          <p:cNvPr id="102030572" name="Text 5"/>
          <p:cNvSpPr/>
          <p:nvPr/>
        </p:nvSpPr>
        <p:spPr bwMode="auto">
          <a:xfrm>
            <a:off x="4626025" y="2011932"/>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NumPy</a:t>
            </a:r>
            <a:endParaRPr lang="en-US" sz="1050"/>
          </a:p>
        </p:txBody>
      </p:sp>
      <p:sp>
        <p:nvSpPr>
          <p:cNvPr id="58535992" name="Text 6"/>
          <p:cNvSpPr/>
          <p:nvPr/>
        </p:nvSpPr>
        <p:spPr bwMode="auto">
          <a:xfrm>
            <a:off x="4626025" y="2236812"/>
            <a:ext cx="1829395"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High-performance numeric ops for vectorized feature computations.</a:t>
            </a:r>
            <a:endParaRPr lang="en-US" sz="850"/>
          </a:p>
        </p:txBody>
      </p:sp>
      <p:pic>
        <p:nvPicPr>
          <p:cNvPr id="1474105073" name="Image 3" descr="preencoded.png"/>
          <p:cNvPicPr>
            <a:picLocks noChangeAspect="1"/>
          </p:cNvPicPr>
          <p:nvPr/>
        </p:nvPicPr>
        <p:blipFill>
          <a:blip r:embed="rId6"/>
          <a:stretch/>
        </p:blipFill>
        <p:spPr bwMode="auto">
          <a:xfrm>
            <a:off x="6563543" y="842814"/>
            <a:ext cx="1061070" cy="1061070"/>
          </a:xfrm>
          <a:prstGeom prst="rect">
            <a:avLst/>
          </a:prstGeom>
        </p:spPr>
      </p:pic>
      <p:sp>
        <p:nvSpPr>
          <p:cNvPr id="1760186955" name="Text 7"/>
          <p:cNvSpPr/>
          <p:nvPr/>
        </p:nvSpPr>
        <p:spPr bwMode="auto">
          <a:xfrm>
            <a:off x="6563543" y="2012007"/>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Snowflake</a:t>
            </a:r>
            <a:endParaRPr lang="en-US" sz="1050"/>
          </a:p>
        </p:txBody>
      </p:sp>
      <p:sp>
        <p:nvSpPr>
          <p:cNvPr id="822859325" name="Text 8"/>
          <p:cNvSpPr/>
          <p:nvPr/>
        </p:nvSpPr>
        <p:spPr bwMode="auto">
          <a:xfrm>
            <a:off x="6563543" y="2236887"/>
            <a:ext cx="1829470"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Secure, scalable storage and SQL-based analytics (Bronze → Gold layers).</a:t>
            </a:r>
            <a:endParaRPr lang="en-US" sz="850"/>
          </a:p>
        </p:txBody>
      </p:sp>
      <p:pic>
        <p:nvPicPr>
          <p:cNvPr id="1076207800" name="Image 4" descr="preencoded.png"/>
          <p:cNvPicPr>
            <a:picLocks noChangeAspect="1"/>
          </p:cNvPicPr>
          <p:nvPr/>
        </p:nvPicPr>
        <p:blipFill>
          <a:blip r:embed="rId7"/>
          <a:stretch/>
        </p:blipFill>
        <p:spPr bwMode="auto">
          <a:xfrm>
            <a:off x="750912" y="2883173"/>
            <a:ext cx="1060996" cy="1060996"/>
          </a:xfrm>
          <a:prstGeom prst="rect">
            <a:avLst/>
          </a:prstGeom>
        </p:spPr>
      </p:pic>
      <p:sp>
        <p:nvSpPr>
          <p:cNvPr id="311381432" name="Text 9"/>
          <p:cNvSpPr/>
          <p:nvPr/>
        </p:nvSpPr>
        <p:spPr bwMode="auto">
          <a:xfrm>
            <a:off x="750912" y="4052292"/>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Matplotlib</a:t>
            </a:r>
            <a:endParaRPr lang="en-US" sz="1050"/>
          </a:p>
        </p:txBody>
      </p:sp>
      <p:sp>
        <p:nvSpPr>
          <p:cNvPr id="1100506372" name="Text 10"/>
          <p:cNvSpPr/>
          <p:nvPr/>
        </p:nvSpPr>
        <p:spPr bwMode="auto">
          <a:xfrm>
            <a:off x="750912" y="4277171"/>
            <a:ext cx="1829395"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Model diagnostics and static visualizations for analysis notebooks.</a:t>
            </a:r>
            <a:endParaRPr lang="en-US" sz="850"/>
          </a:p>
        </p:txBody>
      </p:sp>
      <p:pic>
        <p:nvPicPr>
          <p:cNvPr id="771215429" name="Image 5" descr="preencoded.png"/>
          <p:cNvPicPr>
            <a:picLocks noChangeAspect="1"/>
          </p:cNvPicPr>
          <p:nvPr/>
        </p:nvPicPr>
        <p:blipFill>
          <a:blip r:embed="rId8"/>
          <a:stretch/>
        </p:blipFill>
        <p:spPr bwMode="auto">
          <a:xfrm>
            <a:off x="2688431" y="2883173"/>
            <a:ext cx="1061070" cy="1061070"/>
          </a:xfrm>
          <a:prstGeom prst="rect">
            <a:avLst/>
          </a:prstGeom>
        </p:spPr>
      </p:pic>
      <p:sp>
        <p:nvSpPr>
          <p:cNvPr id="1366891046" name="Text 11"/>
          <p:cNvSpPr/>
          <p:nvPr/>
        </p:nvSpPr>
        <p:spPr bwMode="auto">
          <a:xfrm>
            <a:off x="2688431" y="4052367"/>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SQL</a:t>
            </a:r>
            <a:endParaRPr lang="en-US" sz="1050"/>
          </a:p>
        </p:txBody>
      </p:sp>
      <p:sp>
        <p:nvSpPr>
          <p:cNvPr id="75656039" name="Text 12"/>
          <p:cNvSpPr/>
          <p:nvPr/>
        </p:nvSpPr>
        <p:spPr bwMode="auto">
          <a:xfrm>
            <a:off x="2688431" y="4277246"/>
            <a:ext cx="1829470" cy="315516"/>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Set-based transformations, temporal joins, and analytic views.</a:t>
            </a:r>
            <a:endParaRPr lang="en-US" sz="850"/>
          </a:p>
        </p:txBody>
      </p:sp>
      <p:pic>
        <p:nvPicPr>
          <p:cNvPr id="1304873852" name="Image 6" descr="preencoded.png"/>
          <p:cNvPicPr>
            <a:picLocks noChangeAspect="1"/>
          </p:cNvPicPr>
          <p:nvPr/>
        </p:nvPicPr>
        <p:blipFill>
          <a:blip r:embed="rId9"/>
          <a:stretch/>
        </p:blipFill>
        <p:spPr bwMode="auto">
          <a:xfrm>
            <a:off x="4626025" y="2883173"/>
            <a:ext cx="1060996" cy="1060996"/>
          </a:xfrm>
          <a:prstGeom prst="rect">
            <a:avLst/>
          </a:prstGeom>
        </p:spPr>
      </p:pic>
      <p:sp>
        <p:nvSpPr>
          <p:cNvPr id="1926301398" name="Text 13"/>
          <p:cNvSpPr/>
          <p:nvPr/>
        </p:nvSpPr>
        <p:spPr bwMode="auto">
          <a:xfrm>
            <a:off x="4626025" y="4052292"/>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Power BI</a:t>
            </a:r>
            <a:endParaRPr lang="en-US" sz="1050"/>
          </a:p>
        </p:txBody>
      </p:sp>
      <p:sp>
        <p:nvSpPr>
          <p:cNvPr id="1975999906" name="Text 14"/>
          <p:cNvSpPr/>
          <p:nvPr/>
        </p:nvSpPr>
        <p:spPr bwMode="auto">
          <a:xfrm>
            <a:off x="4626025" y="4277171"/>
            <a:ext cx="1829395"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Operational dashboards and drill-throughs for SecOps and leadership.</a:t>
            </a:r>
            <a:endParaRPr lang="en-US" sz="850"/>
          </a:p>
        </p:txBody>
      </p:sp>
      <p:pic>
        <p:nvPicPr>
          <p:cNvPr id="1635111009" name="Image 7" descr="preencoded.png"/>
          <p:cNvPicPr>
            <a:picLocks noChangeAspect="1"/>
          </p:cNvPicPr>
          <p:nvPr/>
        </p:nvPicPr>
        <p:blipFill>
          <a:blip r:embed="rId10"/>
          <a:stretch/>
        </p:blipFill>
        <p:spPr bwMode="auto">
          <a:xfrm>
            <a:off x="6563543" y="2883173"/>
            <a:ext cx="1061070" cy="1061070"/>
          </a:xfrm>
          <a:prstGeom prst="rect">
            <a:avLst/>
          </a:prstGeom>
        </p:spPr>
      </p:pic>
      <p:sp>
        <p:nvSpPr>
          <p:cNvPr id="718748591" name="Text 15"/>
          <p:cNvSpPr/>
          <p:nvPr/>
        </p:nvSpPr>
        <p:spPr bwMode="auto">
          <a:xfrm>
            <a:off x="6563543" y="4052367"/>
            <a:ext cx="1384399" cy="173013"/>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GitHub</a:t>
            </a:r>
            <a:endParaRPr lang="en-US" sz="1050"/>
          </a:p>
        </p:txBody>
      </p:sp>
      <p:sp>
        <p:nvSpPr>
          <p:cNvPr id="1292181447" name="Text 16"/>
          <p:cNvSpPr/>
          <p:nvPr/>
        </p:nvSpPr>
        <p:spPr bwMode="auto">
          <a:xfrm>
            <a:off x="6563543" y="4277246"/>
            <a:ext cx="1829470" cy="473273"/>
          </a:xfrm>
          <a:prstGeom prst="rect">
            <a:avLst/>
          </a:prstGeom>
          <a:noFill/>
          <a:ln/>
        </p:spPr>
        <p:txBody>
          <a:bodyPr wrap="square" lIns="0" tIns="0" rIns="0" bIns="0" rtlCol="0" anchor="t">
            <a:normAutofit/>
          </a:bodyPr>
          <a:lstStyle/>
          <a:p>
            <a:pPr marL="0" indent="0" algn="l">
              <a:lnSpc>
                <a:spcPct val="119000"/>
              </a:lnSpc>
              <a:buNone/>
              <a:defRPr/>
            </a:pPr>
            <a:r>
              <a:rPr lang="en-US" sz="850">
                <a:solidFill>
                  <a:srgbClr val="405449"/>
                </a:solidFill>
                <a:latin typeface="Nobile"/>
                <a:ea typeface="Nobile"/>
                <a:cs typeface="Nobile"/>
              </a:rPr>
              <a:t>CI/CD for infra-as-code, ETL workflows, and reproducible model artifacts.</a:t>
            </a:r>
            <a:endParaRPr lang="en-US" sz="8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477017018" name="Text 0"/>
          <p:cNvSpPr/>
          <p:nvPr/>
        </p:nvSpPr>
        <p:spPr bwMode="auto">
          <a:xfrm>
            <a:off x="2573015" y="389855"/>
            <a:ext cx="3997896" cy="260226"/>
          </a:xfrm>
          <a:prstGeom prst="rect">
            <a:avLst/>
          </a:prstGeom>
          <a:noFill/>
          <a:ln/>
        </p:spPr>
        <p:txBody>
          <a:bodyPr wrap="none" lIns="0" tIns="0" rIns="0" bIns="0" rtlCol="0" anchor="t"/>
          <a:lstStyle/>
          <a:p>
            <a:pPr marL="0" indent="0" algn="ctr">
              <a:lnSpc>
                <a:spcPct val="104000"/>
              </a:lnSpc>
              <a:buNone/>
              <a:defRPr/>
            </a:pPr>
            <a:r>
              <a:rPr lang="en-US" sz="1600">
                <a:solidFill>
                  <a:srgbClr val="3B4540"/>
                </a:solidFill>
                <a:latin typeface="Fraunces ExtraBold"/>
                <a:ea typeface="Fraunces ExtraBold"/>
                <a:cs typeface="Fraunces ExtraBold"/>
              </a:rPr>
              <a:t>End-to-End Pipeline Architecture</a:t>
            </a:r>
            <a:endParaRPr lang="en-US" sz="1600"/>
          </a:p>
        </p:txBody>
      </p:sp>
      <p:pic>
        <p:nvPicPr>
          <p:cNvPr id="1701274911" name="Image 0" descr="preencoded.png"/>
          <p:cNvPicPr>
            <a:picLocks noChangeAspect="1"/>
          </p:cNvPicPr>
          <p:nvPr/>
        </p:nvPicPr>
        <p:blipFill>
          <a:blip r:embed="rId3"/>
          <a:stretch/>
        </p:blipFill>
        <p:spPr bwMode="auto">
          <a:xfrm>
            <a:off x="1009799" y="802928"/>
            <a:ext cx="7124328" cy="3072185"/>
          </a:xfrm>
          <a:prstGeom prst="rect">
            <a:avLst/>
          </a:prstGeom>
        </p:spPr>
      </p:pic>
      <p:sp>
        <p:nvSpPr>
          <p:cNvPr id="824412513" name="Text 1"/>
          <p:cNvSpPr/>
          <p:nvPr/>
        </p:nvSpPr>
        <p:spPr bwMode="auto">
          <a:xfrm>
            <a:off x="1489182" y="3292511"/>
            <a:ext cx="1616275" cy="202033"/>
          </a:xfrm>
          <a:prstGeom prst="rect">
            <a:avLst/>
          </a:prstGeom>
          <a:noFill/>
          <a:ln/>
        </p:spPr>
        <p:txBody>
          <a:bodyPr wrap="none" lIns="0" tIns="0" rIns="0" bIns="0" rtlCol="0" anchor="t"/>
          <a:lstStyle/>
          <a:p>
            <a:pPr marL="0" indent="0" algn="l">
              <a:lnSpc>
                <a:spcPct val="104000"/>
              </a:lnSpc>
              <a:buNone/>
              <a:defRPr/>
            </a:pPr>
            <a:r>
              <a:rPr lang="en-US" sz="1250">
                <a:solidFill>
                  <a:srgbClr val="FFFFFF"/>
                </a:solidFill>
                <a:latin typeface="Fraunces ExtraBold"/>
                <a:ea typeface="Fraunces ExtraBold"/>
                <a:cs typeface="Fraunces ExtraBold"/>
              </a:rPr>
              <a:t>Silver → Gold</a:t>
            </a:r>
            <a:endParaRPr lang="en-US" sz="1250"/>
          </a:p>
        </p:txBody>
      </p:sp>
      <p:sp>
        <p:nvSpPr>
          <p:cNvPr id="1547855135" name="Text 2"/>
          <p:cNvSpPr/>
          <p:nvPr/>
        </p:nvSpPr>
        <p:spPr bwMode="auto">
          <a:xfrm>
            <a:off x="1489182" y="2581350"/>
            <a:ext cx="1616275" cy="202033"/>
          </a:xfrm>
          <a:prstGeom prst="rect">
            <a:avLst/>
          </a:prstGeom>
          <a:noFill/>
          <a:ln/>
        </p:spPr>
        <p:txBody>
          <a:bodyPr wrap="none" lIns="0" tIns="0" rIns="0" bIns="0" rtlCol="0" anchor="t"/>
          <a:lstStyle/>
          <a:p>
            <a:pPr marL="0" indent="0" algn="l">
              <a:lnSpc>
                <a:spcPct val="104000"/>
              </a:lnSpc>
              <a:buNone/>
              <a:defRPr/>
            </a:pPr>
            <a:r>
              <a:rPr lang="en-US" sz="1250">
                <a:solidFill>
                  <a:srgbClr val="FFFFFF"/>
                </a:solidFill>
                <a:latin typeface="Fraunces ExtraBold"/>
                <a:ea typeface="Fraunces ExtraBold"/>
                <a:cs typeface="Fraunces ExtraBold"/>
              </a:rPr>
              <a:t>Bronze Layer</a:t>
            </a:r>
            <a:endParaRPr lang="en-US" sz="1250"/>
          </a:p>
        </p:txBody>
      </p:sp>
      <p:sp>
        <p:nvSpPr>
          <p:cNvPr id="2127971467" name="Text 3"/>
          <p:cNvSpPr/>
          <p:nvPr/>
        </p:nvSpPr>
        <p:spPr bwMode="auto">
          <a:xfrm>
            <a:off x="1489182" y="1877372"/>
            <a:ext cx="1616275" cy="202033"/>
          </a:xfrm>
          <a:prstGeom prst="rect">
            <a:avLst/>
          </a:prstGeom>
          <a:noFill/>
          <a:ln/>
        </p:spPr>
        <p:txBody>
          <a:bodyPr wrap="none" lIns="0" tIns="0" rIns="0" bIns="0" rtlCol="0" anchor="t"/>
          <a:lstStyle/>
          <a:p>
            <a:pPr marL="0" indent="0" algn="l">
              <a:lnSpc>
                <a:spcPct val="104000"/>
              </a:lnSpc>
              <a:buNone/>
              <a:defRPr/>
            </a:pPr>
            <a:r>
              <a:rPr lang="en-US" sz="1250">
                <a:solidFill>
                  <a:srgbClr val="FFFFFF"/>
                </a:solidFill>
                <a:latin typeface="Fraunces ExtraBold"/>
                <a:ea typeface="Fraunces ExtraBold"/>
                <a:cs typeface="Fraunces ExtraBold"/>
              </a:rPr>
              <a:t>Raw Layer</a:t>
            </a:r>
            <a:endParaRPr lang="en-US" sz="1250"/>
          </a:p>
        </p:txBody>
      </p:sp>
      <p:sp>
        <p:nvSpPr>
          <p:cNvPr id="917869587" name="Text 4"/>
          <p:cNvSpPr/>
          <p:nvPr/>
        </p:nvSpPr>
        <p:spPr bwMode="auto">
          <a:xfrm>
            <a:off x="1489182" y="1166211"/>
            <a:ext cx="1616275" cy="202033"/>
          </a:xfrm>
          <a:prstGeom prst="rect">
            <a:avLst/>
          </a:prstGeom>
          <a:noFill/>
          <a:ln/>
        </p:spPr>
        <p:txBody>
          <a:bodyPr wrap="none" lIns="0" tIns="0" rIns="0" bIns="0" rtlCol="0" anchor="t"/>
          <a:lstStyle/>
          <a:p>
            <a:pPr marL="0" indent="0" algn="l">
              <a:lnSpc>
                <a:spcPct val="104000"/>
              </a:lnSpc>
              <a:buNone/>
              <a:defRPr/>
            </a:pPr>
            <a:r>
              <a:rPr lang="en-US" sz="1250">
                <a:solidFill>
                  <a:srgbClr val="FFFFFF"/>
                </a:solidFill>
                <a:latin typeface="Fraunces ExtraBold"/>
                <a:ea typeface="Fraunces ExtraBold"/>
                <a:cs typeface="Fraunces ExtraBold"/>
              </a:rPr>
              <a:t>Data Sources</a:t>
            </a:r>
            <a:endParaRPr lang="en-US" sz="1250"/>
          </a:p>
        </p:txBody>
      </p:sp>
      <p:sp>
        <p:nvSpPr>
          <p:cNvPr id="1006531299" name="Text 5"/>
          <p:cNvSpPr/>
          <p:nvPr/>
        </p:nvSpPr>
        <p:spPr bwMode="auto">
          <a:xfrm>
            <a:off x="980182" y="3961061"/>
            <a:ext cx="7183562" cy="288875"/>
          </a:xfrm>
          <a:prstGeom prst="rect">
            <a:avLst/>
          </a:prstGeom>
          <a:noFill/>
          <a:ln/>
        </p:spPr>
        <p:txBody>
          <a:bodyPr wrap="square" lIns="0" tIns="0" rIns="0" bIns="0" rtlCol="0" anchor="t">
            <a:normAutofit/>
          </a:bodyPr>
          <a:lstStyle/>
          <a:p>
            <a:pPr marL="0" indent="0" algn="l">
              <a:lnSpc>
                <a:spcPct val="115999"/>
              </a:lnSpc>
              <a:buNone/>
              <a:defRPr/>
            </a:pPr>
            <a:r>
              <a:rPr lang="en-US" sz="800">
                <a:solidFill>
                  <a:srgbClr val="405449"/>
                </a:solidFill>
                <a:latin typeface="Nobile"/>
                <a:ea typeface="Nobile"/>
                <a:cs typeface="Nobile"/>
              </a:rPr>
              <a:t>Caption: Data flows from edge ingestion (auth events) into an immutable Raw layer, then staged Bronze with schema validation, enriched Silver with feature joins and behavioral baselines, and curated Gold for BI and model serving. Alerts and risk scores feed SIEM and SecOps pipelines.</a:t>
            </a:r>
            <a:endParaRPr lang="en-US" sz="800"/>
          </a:p>
        </p:txBody>
      </p:sp>
      <p:sp>
        <p:nvSpPr>
          <p:cNvPr id="733422259" name="Shape 6"/>
          <p:cNvSpPr/>
          <p:nvPr/>
        </p:nvSpPr>
        <p:spPr bwMode="auto">
          <a:xfrm>
            <a:off x="980182" y="4335884"/>
            <a:ext cx="7183562" cy="333896"/>
          </a:xfrm>
          <a:prstGeom prst="roundRect">
            <a:avLst>
              <a:gd name="adj" fmla="val 28062"/>
            </a:avLst>
          </a:prstGeom>
          <a:solidFill>
            <a:srgbClr val="CCE6D1"/>
          </a:solidFill>
          <a:ln/>
        </p:spPr>
      </p:sp>
      <p:pic>
        <p:nvPicPr>
          <p:cNvPr id="219733993" name="Image 1" descr="preencoded.png"/>
          <p:cNvPicPr>
            <a:picLocks noChangeAspect="1"/>
          </p:cNvPicPr>
          <p:nvPr/>
        </p:nvPicPr>
        <p:blipFill>
          <a:blip r:embed="rId4"/>
          <a:stretch/>
        </p:blipFill>
        <p:spPr bwMode="auto">
          <a:xfrm>
            <a:off x="1084287" y="4474815"/>
            <a:ext cx="130076" cy="104105"/>
          </a:xfrm>
          <a:prstGeom prst="rect">
            <a:avLst/>
          </a:prstGeom>
        </p:spPr>
      </p:pic>
      <p:sp>
        <p:nvSpPr>
          <p:cNvPr id="1128541684" name="Text 7"/>
          <p:cNvSpPr/>
          <p:nvPr/>
        </p:nvSpPr>
        <p:spPr bwMode="auto">
          <a:xfrm>
            <a:off x="1318468" y="4430613"/>
            <a:ext cx="7198370" cy="144438"/>
          </a:xfrm>
          <a:prstGeom prst="rect">
            <a:avLst/>
          </a:prstGeom>
          <a:noFill/>
          <a:ln/>
        </p:spPr>
        <p:txBody>
          <a:bodyPr wrap="none" lIns="0" tIns="0" rIns="0" bIns="0" rtlCol="0" anchor="t"/>
          <a:lstStyle/>
          <a:p>
            <a:pPr marL="0" indent="0" algn="l">
              <a:lnSpc>
                <a:spcPct val="115999"/>
              </a:lnSpc>
              <a:buNone/>
              <a:defRPr/>
            </a:pPr>
            <a:r>
              <a:rPr lang="en-US" sz="800">
                <a:solidFill>
                  <a:srgbClr val="000000"/>
                </a:solidFill>
                <a:latin typeface="Nobile"/>
                <a:ea typeface="Nobile"/>
                <a:cs typeface="Nobile"/>
              </a:rPr>
              <a:t>[Data Architecture Dependency Graph] — placeholder for detailed dependency visualization to be embedded in architecture repo.</a:t>
            </a:r>
            <a:endParaRPr lang="en-US" sz="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164895833" name="Text 0"/>
          <p:cNvSpPr/>
          <p:nvPr/>
        </p:nvSpPr>
        <p:spPr bwMode="auto">
          <a:xfrm>
            <a:off x="2011487" y="415826"/>
            <a:ext cx="5120953" cy="232544"/>
          </a:xfrm>
          <a:prstGeom prst="rect">
            <a:avLst/>
          </a:prstGeom>
          <a:noFill/>
          <a:ln/>
        </p:spPr>
        <p:txBody>
          <a:bodyPr wrap="none" lIns="0" tIns="0" rIns="0" bIns="0" rtlCol="0" anchor="t"/>
          <a:lstStyle/>
          <a:p>
            <a:pPr marL="0" indent="0" algn="ctr">
              <a:lnSpc>
                <a:spcPct val="104000"/>
              </a:lnSpc>
              <a:buNone/>
              <a:defRPr/>
            </a:pPr>
            <a:r>
              <a:rPr lang="en-US" sz="1450">
                <a:solidFill>
                  <a:srgbClr val="3B4540"/>
                </a:solidFill>
                <a:latin typeface="Fraunces ExtraBold"/>
                <a:ea typeface="Fraunces ExtraBold"/>
                <a:cs typeface="Fraunces ExtraBold"/>
              </a:rPr>
              <a:t>Raw &amp; Bronze Layer Implementation — Deep Dive</a:t>
            </a:r>
            <a:endParaRPr lang="en-US" sz="1450"/>
          </a:p>
        </p:txBody>
      </p:sp>
      <p:sp>
        <p:nvSpPr>
          <p:cNvPr id="1656967518" name="Text 1"/>
          <p:cNvSpPr/>
          <p:nvPr/>
        </p:nvSpPr>
        <p:spPr bwMode="auto">
          <a:xfrm>
            <a:off x="1362298" y="1670596"/>
            <a:ext cx="1669628" cy="145331"/>
          </a:xfrm>
          <a:prstGeom prst="rect">
            <a:avLst/>
          </a:prstGeom>
          <a:noFill/>
          <a:ln/>
        </p:spPr>
        <p:txBody>
          <a:bodyPr wrap="none" lIns="0" tIns="0" rIns="0" bIns="0" rtlCol="0" anchor="t"/>
          <a:lstStyle/>
          <a:p>
            <a:pPr marL="0" indent="0" algn="l">
              <a:lnSpc>
                <a:spcPct val="104000"/>
              </a:lnSpc>
              <a:buNone/>
              <a:defRPr/>
            </a:pPr>
            <a:r>
              <a:rPr lang="en-US" sz="900">
                <a:solidFill>
                  <a:srgbClr val="3B4540"/>
                </a:solidFill>
                <a:latin typeface="Fraunces ExtraBold"/>
                <a:ea typeface="Fraunces ExtraBold"/>
                <a:cs typeface="Fraunces ExtraBold"/>
              </a:rPr>
              <a:t>Strategy Breakdown</a:t>
            </a:r>
            <a:endParaRPr lang="en-US" sz="900"/>
          </a:p>
        </p:txBody>
      </p:sp>
      <p:sp>
        <p:nvSpPr>
          <p:cNvPr id="1544413692" name="Text 2"/>
          <p:cNvSpPr/>
          <p:nvPr/>
        </p:nvSpPr>
        <p:spPr bwMode="auto">
          <a:xfrm>
            <a:off x="1362298" y="1876946"/>
            <a:ext cx="3096220" cy="1317724"/>
          </a:xfrm>
          <a:prstGeom prst="rect">
            <a:avLst/>
          </a:prstGeom>
          <a:noFill/>
          <a:ln/>
        </p:spPr>
        <p:txBody>
          <a:bodyPr wrap="square" lIns="0" tIns="0" rIns="0" bIns="0" rtlCol="0" anchor="t">
            <a:normAutofit/>
          </a:bodyPr>
          <a:lstStyle/>
          <a:p>
            <a:pPr marL="342900" indent="-342900" algn="l">
              <a:lnSpc>
                <a:spcPct val="110000"/>
              </a:lnSpc>
              <a:buSzPct val="100000"/>
              <a:buChar char="•"/>
              <a:defRPr/>
            </a:pPr>
            <a:r>
              <a:rPr lang="en-US" sz="700" b="1">
                <a:solidFill>
                  <a:srgbClr val="405449"/>
                </a:solidFill>
                <a:latin typeface="Nobile"/>
                <a:ea typeface="Nobile"/>
                <a:cs typeface="Nobile"/>
              </a:rPr>
              <a:t>Ingestion:</a:t>
            </a:r>
            <a:r>
              <a:rPr lang="en-US" sz="700">
                <a:solidFill>
                  <a:srgbClr val="405449"/>
                </a:solidFill>
                <a:latin typeface="Nobile"/>
                <a:ea typeface="Nobile"/>
                <a:cs typeface="Nobile"/>
              </a:rPr>
              <a:t> Event stream (Kafka/Kinesis) with schema registry; atomic event writes to immutable Raw storage.</a:t>
            </a:r>
            <a:endParaRPr lang="en-US" sz="700"/>
          </a:p>
          <a:p>
            <a:pPr marL="342900" indent="-342900" algn="l">
              <a:lnSpc>
                <a:spcPct val="110000"/>
              </a:lnSpc>
              <a:buSzPct val="100000"/>
              <a:buChar char="•"/>
              <a:defRPr/>
            </a:pPr>
            <a:r>
              <a:rPr lang="en-US" sz="700" b="1">
                <a:solidFill>
                  <a:srgbClr val="405449"/>
                </a:solidFill>
                <a:latin typeface="Nobile"/>
                <a:ea typeface="Nobile"/>
                <a:cs typeface="Nobile"/>
              </a:rPr>
              <a:t>Bronze Layer:</a:t>
            </a:r>
            <a:r>
              <a:rPr lang="en-US" sz="700">
                <a:solidFill>
                  <a:srgbClr val="405449"/>
                </a:solidFill>
                <a:latin typeface="Nobile"/>
                <a:ea typeface="Nobile"/>
                <a:cs typeface="Nobile"/>
              </a:rPr>
              <a:t> Append-only tables with partitioning, ingestion metadata (ingest_ts, source, batch_id) and file-level checksums.</a:t>
            </a:r>
            <a:endParaRPr lang="en-US" sz="700"/>
          </a:p>
          <a:p>
            <a:pPr marL="342900" indent="-342900" algn="l">
              <a:lnSpc>
                <a:spcPct val="110000"/>
              </a:lnSpc>
              <a:buSzPct val="100000"/>
              <a:buChar char="•"/>
              <a:defRPr/>
            </a:pPr>
            <a:r>
              <a:rPr lang="en-US" sz="700" b="1">
                <a:solidFill>
                  <a:srgbClr val="405449"/>
                </a:solidFill>
                <a:latin typeface="Nobile"/>
                <a:ea typeface="Nobile"/>
                <a:cs typeface="Nobile"/>
              </a:rPr>
              <a:t>Versioning:</a:t>
            </a:r>
            <a:r>
              <a:rPr lang="en-US" sz="700">
                <a:solidFill>
                  <a:srgbClr val="405449"/>
                </a:solidFill>
                <a:latin typeface="Nobile"/>
                <a:ea typeface="Nobile"/>
                <a:cs typeface="Nobile"/>
              </a:rPr>
              <a:t> Time-travel and snapshot snapshots for reproducible feature builds and incident forensics.</a:t>
            </a:r>
            <a:endParaRPr lang="en-US" sz="700"/>
          </a:p>
          <a:p>
            <a:pPr marL="342900" indent="-342900" algn="l">
              <a:lnSpc>
                <a:spcPct val="110000"/>
              </a:lnSpc>
              <a:buSzPct val="100000"/>
              <a:buChar char="•"/>
              <a:defRPr/>
            </a:pPr>
            <a:r>
              <a:rPr lang="en-US" sz="700" b="1">
                <a:solidFill>
                  <a:srgbClr val="405449"/>
                </a:solidFill>
                <a:latin typeface="Nobile"/>
                <a:ea typeface="Nobile"/>
                <a:cs typeface="Nobile"/>
              </a:rPr>
              <a:t>Operational Audit:</a:t>
            </a:r>
            <a:r>
              <a:rPr lang="en-US" sz="700">
                <a:solidFill>
                  <a:srgbClr val="405449"/>
                </a:solidFill>
                <a:latin typeface="Nobile"/>
                <a:ea typeface="Nobile"/>
                <a:cs typeface="Nobile"/>
              </a:rPr>
              <a:t> Audit logs, lineage (ETL job_id), and data quality metrics (completeness, drift).</a:t>
            </a:r>
            <a:endParaRPr lang="en-US" sz="700"/>
          </a:p>
          <a:p>
            <a:pPr marL="342900" indent="-342900" algn="l">
              <a:lnSpc>
                <a:spcPct val="110000"/>
              </a:lnSpc>
              <a:buSzPct val="100000"/>
              <a:buChar char="•"/>
              <a:defRPr/>
            </a:pPr>
            <a:r>
              <a:rPr lang="en-US" sz="700" b="1">
                <a:solidFill>
                  <a:srgbClr val="405449"/>
                </a:solidFill>
                <a:latin typeface="Nobile"/>
                <a:ea typeface="Nobile"/>
                <a:cs typeface="Nobile"/>
              </a:rPr>
              <a:t>Security:</a:t>
            </a:r>
            <a:r>
              <a:rPr lang="en-US" sz="700">
                <a:solidFill>
                  <a:srgbClr val="405449"/>
                </a:solidFill>
                <a:latin typeface="Nobile"/>
                <a:ea typeface="Nobile"/>
                <a:cs typeface="Nobile"/>
              </a:rPr>
              <a:t> Column-level encryption, role-based access, and masked/hashed identifiers.</a:t>
            </a:r>
            <a:endParaRPr lang="en-US" sz="700"/>
          </a:p>
        </p:txBody>
      </p:sp>
      <p:sp>
        <p:nvSpPr>
          <p:cNvPr id="1082323069" name="Shape 3"/>
          <p:cNvSpPr/>
          <p:nvPr/>
        </p:nvSpPr>
        <p:spPr bwMode="auto">
          <a:xfrm>
            <a:off x="1362298" y="3263354"/>
            <a:ext cx="3096220" cy="525959"/>
          </a:xfrm>
          <a:prstGeom prst="roundRect">
            <a:avLst>
              <a:gd name="adj" fmla="val 15920"/>
            </a:avLst>
          </a:prstGeom>
          <a:solidFill>
            <a:srgbClr val="B6D6FC"/>
          </a:solidFill>
          <a:ln/>
        </p:spPr>
      </p:sp>
      <p:pic>
        <p:nvPicPr>
          <p:cNvPr id="1383427606" name="Image 0" descr="preencoded.png"/>
          <p:cNvPicPr>
            <a:picLocks noChangeAspect="1"/>
          </p:cNvPicPr>
          <p:nvPr/>
        </p:nvPicPr>
        <p:blipFill>
          <a:blip r:embed="rId3"/>
          <a:stretch/>
        </p:blipFill>
        <p:spPr bwMode="auto">
          <a:xfrm>
            <a:off x="1455316" y="3383904"/>
            <a:ext cx="116234" cy="93018"/>
          </a:xfrm>
          <a:prstGeom prst="rect">
            <a:avLst/>
          </a:prstGeom>
        </p:spPr>
      </p:pic>
      <p:sp>
        <p:nvSpPr>
          <p:cNvPr id="1669692780" name="Text 4"/>
          <p:cNvSpPr/>
          <p:nvPr/>
        </p:nvSpPr>
        <p:spPr bwMode="auto">
          <a:xfrm>
            <a:off x="1664568" y="3341489"/>
            <a:ext cx="2700932" cy="369689"/>
          </a:xfrm>
          <a:prstGeom prst="rect">
            <a:avLst/>
          </a:prstGeom>
          <a:noFill/>
          <a:ln/>
        </p:spPr>
        <p:txBody>
          <a:bodyPr wrap="square" lIns="0" tIns="0" rIns="0" bIns="0" rtlCol="0" anchor="t">
            <a:normAutofit/>
          </a:bodyPr>
          <a:lstStyle/>
          <a:p>
            <a:pPr marL="0" indent="0" algn="l">
              <a:lnSpc>
                <a:spcPct val="110000"/>
              </a:lnSpc>
              <a:buNone/>
              <a:defRPr/>
            </a:pPr>
            <a:r>
              <a:rPr lang="en-US" sz="700">
                <a:solidFill>
                  <a:srgbClr val="000000"/>
                </a:solidFill>
                <a:latin typeface="Nobile"/>
                <a:ea typeface="Nobile"/>
                <a:cs typeface="Nobile"/>
              </a:rPr>
              <a:t>Implementation notes: use micro-batches for enrichment while preserving event ordering; retain raw payloads for at least 12 months for investigations.</a:t>
            </a:r>
            <a:endParaRPr lang="en-US" sz="700"/>
          </a:p>
        </p:txBody>
      </p:sp>
      <p:sp>
        <p:nvSpPr>
          <p:cNvPr id="608783529" name="Text 5"/>
          <p:cNvSpPr/>
          <p:nvPr/>
        </p:nvSpPr>
        <p:spPr bwMode="auto">
          <a:xfrm>
            <a:off x="4690244" y="800919"/>
            <a:ext cx="1958504" cy="145331"/>
          </a:xfrm>
          <a:prstGeom prst="rect">
            <a:avLst/>
          </a:prstGeom>
          <a:noFill/>
          <a:ln/>
        </p:spPr>
        <p:txBody>
          <a:bodyPr wrap="none" lIns="0" tIns="0" rIns="0" bIns="0" rtlCol="0" anchor="t"/>
          <a:lstStyle/>
          <a:p>
            <a:pPr marL="0" indent="0" algn="l">
              <a:lnSpc>
                <a:spcPct val="104000"/>
              </a:lnSpc>
              <a:buNone/>
              <a:defRPr/>
            </a:pPr>
            <a:r>
              <a:rPr lang="en-US" sz="900">
                <a:solidFill>
                  <a:srgbClr val="3B4540"/>
                </a:solidFill>
                <a:latin typeface="Fraunces ExtraBold"/>
                <a:ea typeface="Fraunces ExtraBold"/>
                <a:cs typeface="Fraunces ExtraBold"/>
              </a:rPr>
              <a:t>State Transition Diagram</a:t>
            </a:r>
            <a:endParaRPr lang="en-US" sz="900"/>
          </a:p>
        </p:txBody>
      </p:sp>
      <p:pic>
        <p:nvPicPr>
          <p:cNvPr id="308567322" name="Image 1" descr="preencoded.png"/>
          <p:cNvPicPr>
            <a:picLocks noChangeAspect="1"/>
          </p:cNvPicPr>
          <p:nvPr/>
        </p:nvPicPr>
        <p:blipFill>
          <a:blip r:embed="rId4"/>
          <a:stretch/>
        </p:blipFill>
        <p:spPr bwMode="auto">
          <a:xfrm>
            <a:off x="4690244" y="1014933"/>
            <a:ext cx="3096220" cy="3096220"/>
          </a:xfrm>
          <a:prstGeom prst="rect">
            <a:avLst/>
          </a:prstGeom>
        </p:spPr>
      </p:pic>
      <p:sp>
        <p:nvSpPr>
          <p:cNvPr id="1023695005" name="Text 6"/>
          <p:cNvSpPr/>
          <p:nvPr/>
        </p:nvSpPr>
        <p:spPr bwMode="auto">
          <a:xfrm>
            <a:off x="4690244" y="4179838"/>
            <a:ext cx="3096220" cy="492919"/>
          </a:xfrm>
          <a:prstGeom prst="rect">
            <a:avLst/>
          </a:prstGeom>
          <a:noFill/>
          <a:ln/>
        </p:spPr>
        <p:txBody>
          <a:bodyPr wrap="square" lIns="0" tIns="0" rIns="0" bIns="0" rtlCol="0" anchor="t">
            <a:normAutofit/>
          </a:bodyPr>
          <a:lstStyle/>
          <a:p>
            <a:pPr marL="0" indent="0" algn="l">
              <a:lnSpc>
                <a:spcPct val="110000"/>
              </a:lnSpc>
              <a:buNone/>
              <a:defRPr/>
            </a:pPr>
            <a:r>
              <a:rPr lang="en-US" sz="700">
                <a:solidFill>
                  <a:srgbClr val="405449"/>
                </a:solidFill>
                <a:latin typeface="Nobile"/>
                <a:ea typeface="Nobile"/>
                <a:cs typeface="Nobile"/>
              </a:rPr>
              <a:t>Bottom caption: Event → validate schema → write to Raw (immutable) → materialize Bronze (partitioned) → record provenance (job_id, commit_hash). Downstream Silver/Gold layers consume versioned Bronze snapshots for deterministic feature computation.</a:t>
            </a:r>
            <a:endParaRPr lang="en-US" sz="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1962273346" name="Text 0"/>
          <p:cNvSpPr/>
          <p:nvPr/>
        </p:nvSpPr>
        <p:spPr bwMode="auto">
          <a:xfrm>
            <a:off x="3085090" y="358854"/>
            <a:ext cx="2588790" cy="317389"/>
          </a:xfrm>
          <a:prstGeom prst="rect">
            <a:avLst/>
          </a:prstGeom>
          <a:noFill/>
          <a:ln/>
        </p:spPr>
        <p:txBody>
          <a:bodyPr wrap="none" lIns="0" tIns="0" rIns="0" bIns="0" rtlCol="0" anchor="t"/>
          <a:lstStyle/>
          <a:p>
            <a:pPr marL="0" indent="0" algn="ctr">
              <a:lnSpc>
                <a:spcPct val="104000"/>
              </a:lnSpc>
              <a:buNone/>
              <a:defRPr/>
            </a:pPr>
            <a:r>
              <a:rPr lang="en-US" sz="1950">
                <a:solidFill>
                  <a:srgbClr val="3B4540"/>
                </a:solidFill>
                <a:latin typeface="Fraunces ExtraBold"/>
                <a:ea typeface="Fraunces ExtraBold"/>
                <a:cs typeface="Fraunces ExtraBold"/>
              </a:rPr>
              <a:t>Data Ingestion Strategy</a:t>
            </a:r>
            <a:endParaRPr lang="en-US" sz="1950"/>
          </a:p>
        </p:txBody>
      </p:sp>
      <p:sp>
        <p:nvSpPr>
          <p:cNvPr id="1217170630" name="Text 1"/>
          <p:cNvSpPr/>
          <p:nvPr/>
        </p:nvSpPr>
        <p:spPr bwMode="auto">
          <a:xfrm>
            <a:off x="496118" y="1002641"/>
            <a:ext cx="8151762" cy="572838"/>
          </a:xfrm>
          <a:prstGeom prst="rect">
            <a:avLst/>
          </a:prstGeom>
          <a:noFill/>
          <a:ln/>
        </p:spPr>
        <p:txBody>
          <a:bodyPr wrap="square" lIns="0" tIns="0" rIns="0" bIns="0" rtlCol="0" anchor="t">
            <a:normAutofit/>
          </a:bodyPr>
          <a:lstStyle/>
          <a:p>
            <a:pPr marL="0" indent="0" algn="l">
              <a:lnSpc>
                <a:spcPct val="126000"/>
              </a:lnSpc>
              <a:buNone/>
              <a:defRPr/>
            </a:pPr>
            <a:r>
              <a:rPr lang="en-US" sz="950">
                <a:solidFill>
                  <a:srgbClr val="405449"/>
                </a:solidFill>
                <a:latin typeface="Nobile"/>
                <a:ea typeface="Nobile"/>
                <a:cs typeface="Nobile"/>
              </a:rPr>
              <a:t>Goal: securely ingest raw login telemetry from files and streams into the Bronze layer while preserving immutability and supporting transactional, incremental loads. Steps: 1) Read raw CSV or stream data, validate the schema, and tag provenance. 2) Write atomically to Bronze as append-only Delta data. 3) Manage offsets and checkpoints for incremental processing and replay protection.</a:t>
            </a:r>
            <a:endParaRPr lang="en-US" sz="950"/>
          </a:p>
        </p:txBody>
      </p:sp>
      <p:sp>
        <p:nvSpPr>
          <p:cNvPr id="1128511622" name="Text 2"/>
          <p:cNvSpPr/>
          <p:nvPr/>
        </p:nvSpPr>
        <p:spPr bwMode="auto">
          <a:xfrm>
            <a:off x="496118" y="1799480"/>
            <a:ext cx="8151762" cy="1633462"/>
          </a:xfrm>
          <a:prstGeom prst="rect">
            <a:avLst/>
          </a:prstGeom>
          <a:noFill/>
          <a:ln/>
        </p:spPr>
        <p:txBody>
          <a:bodyPr wrap="square" lIns="0" tIns="0" rIns="0" bIns="0" rtlCol="0" anchor="t">
            <a:normAutofit/>
          </a:bodyPr>
          <a:lstStyle/>
          <a:p>
            <a:pPr marL="0" indent="0" algn="l">
              <a:lnSpc>
                <a:spcPct val="104000"/>
              </a:lnSpc>
              <a:buNone/>
              <a:defRPr/>
            </a:pPr>
            <a:r>
              <a:rPr lang="en-US" sz="3400">
                <a:solidFill>
                  <a:srgbClr val="3B4540"/>
                </a:solidFill>
                <a:latin typeface="Fraunces ExtraBold"/>
                <a:ea typeface="Fraunces ExtraBold"/>
                <a:cs typeface="Fraunces ExtraBold"/>
              </a:rPr>
              <a:t>Key considerations: schema evolution, watermarking, idempotency, and encryption at rest</a:t>
            </a:r>
            <a:endParaRPr lang="en-US" sz="3400"/>
          </a:p>
        </p:txBody>
      </p:sp>
      <p:sp>
        <p:nvSpPr>
          <p:cNvPr id="1554443300" name="Shape 3"/>
          <p:cNvSpPr/>
          <p:nvPr/>
        </p:nvSpPr>
        <p:spPr bwMode="auto">
          <a:xfrm>
            <a:off x="496118" y="3633117"/>
            <a:ext cx="8151762" cy="9450"/>
          </a:xfrm>
          <a:prstGeom prst="rect">
            <a:avLst/>
          </a:prstGeom>
          <a:solidFill>
            <a:srgbClr val="405449">
              <a:alpha val="50000"/>
            </a:srgbClr>
          </a:solidFill>
          <a:ln/>
        </p:spPr>
      </p:sp>
      <p:sp>
        <p:nvSpPr>
          <p:cNvPr id="1124126448" name="Shape 4"/>
          <p:cNvSpPr/>
          <p:nvPr/>
        </p:nvSpPr>
        <p:spPr bwMode="auto">
          <a:xfrm>
            <a:off x="496118" y="3800623"/>
            <a:ext cx="8151762" cy="825251"/>
          </a:xfrm>
          <a:prstGeom prst="roundRect">
            <a:avLst>
              <a:gd name="adj" fmla="val 13770"/>
            </a:avLst>
          </a:prstGeom>
          <a:solidFill>
            <a:srgbClr val="EDF2ED"/>
          </a:solidFill>
          <a:ln/>
        </p:spPr>
      </p:sp>
      <p:sp>
        <p:nvSpPr>
          <p:cNvPr id="1189958463" name="Shape 5"/>
          <p:cNvSpPr/>
          <p:nvPr/>
        </p:nvSpPr>
        <p:spPr bwMode="auto">
          <a:xfrm>
            <a:off x="489867" y="3800623"/>
            <a:ext cx="8164263" cy="825251"/>
          </a:xfrm>
          <a:prstGeom prst="roundRect">
            <a:avLst>
              <a:gd name="adj" fmla="val 2295"/>
            </a:avLst>
          </a:prstGeom>
          <a:solidFill>
            <a:srgbClr val="EDF2ED"/>
          </a:solidFill>
          <a:ln/>
        </p:spPr>
      </p:sp>
      <p:sp>
        <p:nvSpPr>
          <p:cNvPr id="234156076" name="Text 6"/>
          <p:cNvSpPr/>
          <p:nvPr/>
        </p:nvSpPr>
        <p:spPr bwMode="auto">
          <a:xfrm>
            <a:off x="647625" y="3926829"/>
            <a:ext cx="7848748" cy="572838"/>
          </a:xfrm>
          <a:prstGeom prst="rect">
            <a:avLst/>
          </a:prstGeom>
          <a:noFill/>
          <a:ln/>
        </p:spPr>
        <p:txBody>
          <a:bodyPr wrap="square" lIns="0" tIns="0" rIns="0" bIns="0" rtlCol="0" anchor="t">
            <a:normAutofit/>
          </a:bodyPr>
          <a:lstStyle/>
          <a:p>
            <a:pPr marL="0" indent="0" algn="l">
              <a:lnSpc>
                <a:spcPct val="126000"/>
              </a:lnSpc>
              <a:buNone/>
              <a:defRPr/>
            </a:pPr>
            <a:r>
              <a:rPr lang="en-US" sz="950">
                <a:solidFill>
                  <a:srgbClr val="405449"/>
                </a:solidFill>
                <a:latin typeface="Consolas"/>
                <a:ea typeface="Consolas"/>
                <a:cs typeface="Consolas"/>
              </a:rPr>
              <a:t>```python</a:t>
            </a:r>
            <a:endParaRPr lang="en-US" sz="950"/>
          </a:p>
          <a:p>
            <a:pPr marL="0" indent="0" algn="l">
              <a:lnSpc>
                <a:spcPct val="126000"/>
              </a:lnSpc>
              <a:buNone/>
              <a:defRPr/>
            </a:pPr>
            <a:r>
              <a:rPr lang="en-US" sz="950">
                <a:solidFill>
                  <a:srgbClr val="405449"/>
                </a:solidFill>
                <a:latin typeface="Consolas"/>
                <a:ea typeface="Consolas"/>
                <a:cs typeface="Consolas"/>
              </a:rPr>
              <a:t>df = spark.read.csv("/data/login_logs.csv", header=True)</a:t>
            </a:r>
            <a:endParaRPr lang="en-US" sz="950"/>
          </a:p>
          <a:p>
            <a:pPr marL="0" indent="0" algn="l">
              <a:lnSpc>
                <a:spcPct val="126000"/>
              </a:lnSpc>
              <a:buNone/>
              <a:defRPr/>
            </a:pPr>
            <a:r>
              <a:rPr lang="en-US" sz="950">
                <a:solidFill>
                  <a:srgbClr val="405449"/>
                </a:solidFill>
                <a:latin typeface="Consolas"/>
                <a:ea typeface="Consolas"/>
                <a:cs typeface="Consolas"/>
              </a:rPr>
              <a:t>df.write.format("delta").mode("append").save("/bronze/login_data")</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401859828" name="Text 0"/>
          <p:cNvSpPr/>
          <p:nvPr/>
        </p:nvSpPr>
        <p:spPr bwMode="auto">
          <a:xfrm flipH="0" flipV="0">
            <a:off x="496118" y="463227"/>
            <a:ext cx="8168281" cy="355799"/>
          </a:xfrm>
          <a:prstGeom prst="rect">
            <a:avLst/>
          </a:prstGeom>
          <a:noFill/>
          <a:ln/>
        </p:spPr>
        <p:txBody>
          <a:bodyPr wrap="square" lIns="0" tIns="0" rIns="0" bIns="0" rtlCol="0" anchor="t"/>
          <a:lstStyle/>
          <a:p>
            <a:pPr marL="0" indent="0" algn="ctr">
              <a:lnSpc>
                <a:spcPct val="104000"/>
              </a:lnSpc>
              <a:buNone/>
              <a:defRPr/>
            </a:pPr>
            <a:r>
              <a:rPr lang="en-US" sz="2200">
                <a:solidFill>
                  <a:srgbClr val="3B4540"/>
                </a:solidFill>
                <a:latin typeface="Fraunces ExtraBold"/>
                <a:ea typeface="Fraunces ExtraBold"/>
                <a:cs typeface="Fraunces ExtraBold"/>
              </a:rPr>
              <a:t>Silver Layer Transformation</a:t>
            </a:r>
            <a:endParaRPr lang="en-US" sz="2200"/>
          </a:p>
        </p:txBody>
      </p:sp>
      <p:sp>
        <p:nvSpPr>
          <p:cNvPr id="521156776" name="Text 1"/>
          <p:cNvSpPr/>
          <p:nvPr/>
        </p:nvSpPr>
        <p:spPr bwMode="auto">
          <a:xfrm>
            <a:off x="496118" y="1101105"/>
            <a:ext cx="8151762" cy="680440"/>
          </a:xfrm>
          <a:prstGeom prst="rect">
            <a:avLst/>
          </a:prstGeom>
          <a:noFill/>
          <a:ln/>
        </p:spPr>
        <p:txBody>
          <a:bodyPr wrap="square" lIns="0" tIns="0" rIns="0" bIns="0" rtlCol="0" anchor="t">
            <a:normAutofit/>
          </a:bodyPr>
          <a:lstStyle/>
          <a:p>
            <a:pPr marL="0" indent="0" algn="l">
              <a:lnSpc>
                <a:spcPct val="133000"/>
              </a:lnSpc>
              <a:buNone/>
              <a:defRPr/>
            </a:pPr>
            <a:r>
              <a:rPr lang="en-US" sz="1100">
                <a:solidFill>
                  <a:srgbClr val="405449"/>
                </a:solidFill>
                <a:latin typeface="Nobile"/>
                <a:ea typeface="Nobile"/>
                <a:cs typeface="Nobile"/>
              </a:rPr>
              <a:t>Purpose: turn Bronze records into a clean, queryable Silver dataset. Core mechanics: apply deterministic cleansing, remove duplicates, handle nulls explicitly, standardize protocols, and engineer initial security features such as session duration and failed-attempt counts.</a:t>
            </a:r>
            <a:endParaRPr lang="en-US" sz="1100"/>
          </a:p>
        </p:txBody>
      </p:sp>
      <p:sp>
        <p:nvSpPr>
          <p:cNvPr id="1934914768" name="Text 2"/>
          <p:cNvSpPr/>
          <p:nvPr/>
        </p:nvSpPr>
        <p:spPr bwMode="auto">
          <a:xfrm>
            <a:off x="496118" y="2082774"/>
            <a:ext cx="2901552" cy="221455"/>
          </a:xfrm>
          <a:prstGeom prst="rect">
            <a:avLst/>
          </a:prstGeom>
          <a:noFill/>
          <a:ln/>
        </p:spPr>
        <p:txBody>
          <a:bodyPr wrap="none" lIns="0" tIns="0" rIns="0" bIns="0" rtlCol="0" anchor="t"/>
          <a:lstStyle/>
          <a:p>
            <a:pPr marL="0" indent="0" algn="l">
              <a:lnSpc>
                <a:spcPct val="104000"/>
              </a:lnSpc>
              <a:buNone/>
              <a:defRPr/>
            </a:pPr>
            <a:r>
              <a:rPr lang="en-US" sz="1350">
                <a:solidFill>
                  <a:srgbClr val="3B4540"/>
                </a:solidFill>
                <a:latin typeface="Fraunces ExtraBold"/>
                <a:ea typeface="Fraunces ExtraBold"/>
                <a:cs typeface="Fraunces ExtraBold"/>
              </a:rPr>
              <a:t>Data Cleansing Framework</a:t>
            </a:r>
            <a:endParaRPr lang="en-US" sz="1350"/>
          </a:p>
        </p:txBody>
      </p:sp>
      <p:sp>
        <p:nvSpPr>
          <p:cNvPr id="1913819020" name="Text 3"/>
          <p:cNvSpPr/>
          <p:nvPr/>
        </p:nvSpPr>
        <p:spPr bwMode="auto">
          <a:xfrm>
            <a:off x="496118" y="2445989"/>
            <a:ext cx="2458342" cy="1509563"/>
          </a:xfrm>
          <a:prstGeom prst="rect">
            <a:avLst/>
          </a:prstGeom>
          <a:noFill/>
          <a:ln/>
        </p:spPr>
        <p:txBody>
          <a:bodyPr wrap="square" lIns="0" tIns="0" rIns="0" bIns="0" rtlCol="0" anchor="t">
            <a:normAutofit/>
          </a:bodyPr>
          <a:lstStyle/>
          <a:p>
            <a:pPr marL="342900" indent="-342900" algn="l">
              <a:lnSpc>
                <a:spcPct val="133000"/>
              </a:lnSpc>
              <a:buSzPct val="100000"/>
              <a:buChar char="•"/>
              <a:defRPr/>
            </a:pPr>
            <a:r>
              <a:rPr lang="en-US" sz="1100">
                <a:solidFill>
                  <a:srgbClr val="405449"/>
                </a:solidFill>
                <a:latin typeface="Nobile"/>
                <a:ea typeface="Nobile"/>
                <a:cs typeface="Nobile"/>
              </a:rPr>
              <a:t>Validate schema conformance</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Standardize timestamps to UTC</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Normalize protocol and user-agent fields</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Fill or flag missing critical attributes</a:t>
            </a:r>
            <a:endParaRPr lang="en-US" sz="1100"/>
          </a:p>
        </p:txBody>
      </p:sp>
      <p:sp>
        <p:nvSpPr>
          <p:cNvPr id="403503520" name="Text 4"/>
          <p:cNvSpPr/>
          <p:nvPr/>
        </p:nvSpPr>
        <p:spPr bwMode="auto">
          <a:xfrm>
            <a:off x="3305100" y="2082774"/>
            <a:ext cx="2458342" cy="442912"/>
          </a:xfrm>
          <a:prstGeom prst="rect">
            <a:avLst/>
          </a:prstGeom>
          <a:noFill/>
          <a:ln/>
        </p:spPr>
        <p:txBody>
          <a:bodyPr wrap="square" lIns="0" tIns="0" rIns="0" bIns="0" rtlCol="0" anchor="t">
            <a:normAutofit/>
          </a:bodyPr>
          <a:lstStyle/>
          <a:p>
            <a:pPr marL="0" indent="0" algn="l">
              <a:lnSpc>
                <a:spcPct val="104000"/>
              </a:lnSpc>
              <a:buNone/>
              <a:defRPr/>
            </a:pPr>
            <a:r>
              <a:rPr lang="en-US" sz="1350">
                <a:solidFill>
                  <a:srgbClr val="3B4540"/>
                </a:solidFill>
                <a:latin typeface="Fraunces ExtraBold"/>
                <a:ea typeface="Fraunces ExtraBold"/>
                <a:cs typeface="Fraunces ExtraBold"/>
              </a:rPr>
              <a:t>Feature Engineering Strategies</a:t>
            </a:r>
            <a:endParaRPr lang="en-US" sz="1350"/>
          </a:p>
        </p:txBody>
      </p:sp>
      <p:sp>
        <p:nvSpPr>
          <p:cNvPr id="1089360086" name="Text 5"/>
          <p:cNvSpPr/>
          <p:nvPr/>
        </p:nvSpPr>
        <p:spPr bwMode="auto">
          <a:xfrm>
            <a:off x="3305100" y="2667445"/>
            <a:ext cx="2458342" cy="1963191"/>
          </a:xfrm>
          <a:prstGeom prst="rect">
            <a:avLst/>
          </a:prstGeom>
          <a:noFill/>
          <a:ln/>
        </p:spPr>
        <p:txBody>
          <a:bodyPr wrap="square" lIns="0" tIns="0" rIns="0" bIns="0" rtlCol="0" anchor="t">
            <a:normAutofit/>
          </a:bodyPr>
          <a:lstStyle/>
          <a:p>
            <a:pPr marL="342900" indent="-342900" algn="l">
              <a:lnSpc>
                <a:spcPct val="133000"/>
              </a:lnSpc>
              <a:buSzPct val="100000"/>
              <a:buChar char="•"/>
              <a:defRPr/>
            </a:pPr>
            <a:r>
              <a:rPr lang="en-US" sz="1100">
                <a:solidFill>
                  <a:srgbClr val="405449"/>
                </a:solidFill>
                <a:latin typeface="Nobile"/>
                <a:ea typeface="Nobile"/>
                <a:cs typeface="Nobile"/>
              </a:rPr>
              <a:t>Derive failed_attempts and session_count</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Encode device fingerprint and geohash</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Calculate rolling windows for anomaly signals</a:t>
            </a:r>
            <a:endParaRPr lang="en-US" sz="1100"/>
          </a:p>
          <a:p>
            <a:pPr marL="342900" indent="-342900" algn="l">
              <a:lnSpc>
                <a:spcPct val="133000"/>
              </a:lnSpc>
              <a:buSzPct val="100000"/>
              <a:buChar char="•"/>
              <a:defRPr/>
            </a:pPr>
            <a:r>
              <a:rPr lang="en-US" sz="1100">
                <a:solidFill>
                  <a:srgbClr val="405449"/>
                </a:solidFill>
                <a:latin typeface="Nobile"/>
                <a:ea typeface="Nobile"/>
                <a:cs typeface="Nobile"/>
              </a:rPr>
              <a:t>Preserve lineage and provenance metadata</a:t>
            </a:r>
            <a:endParaRPr lang="en-US" sz="1100"/>
          </a:p>
        </p:txBody>
      </p:sp>
      <p:sp>
        <p:nvSpPr>
          <p:cNvPr id="1980445356" name="Text 6"/>
          <p:cNvSpPr/>
          <p:nvPr/>
        </p:nvSpPr>
        <p:spPr bwMode="auto">
          <a:xfrm>
            <a:off x="6114082" y="2082774"/>
            <a:ext cx="2543248" cy="442912"/>
          </a:xfrm>
          <a:prstGeom prst="rect">
            <a:avLst/>
          </a:prstGeom>
          <a:noFill/>
          <a:ln/>
        </p:spPr>
        <p:txBody>
          <a:bodyPr wrap="square" lIns="0" tIns="0" rIns="0" bIns="0" rtlCol="0" anchor="t">
            <a:normAutofit/>
          </a:bodyPr>
          <a:lstStyle/>
          <a:p>
            <a:pPr marL="0" indent="0" algn="l">
              <a:lnSpc>
                <a:spcPct val="104000"/>
              </a:lnSpc>
              <a:buNone/>
              <a:defRPr/>
            </a:pPr>
            <a:r>
              <a:rPr lang="en-US" sz="1350">
                <a:solidFill>
                  <a:srgbClr val="3B4540"/>
                </a:solidFill>
                <a:latin typeface="Fraunces ExtraBold"/>
                <a:ea typeface="Fraunces ExtraBold"/>
                <a:cs typeface="Fraunces ExtraBold"/>
              </a:rPr>
              <a:t>Data Transformation Code Snippet</a:t>
            </a:r>
            <a:endParaRPr lang="en-US" sz="1350"/>
          </a:p>
        </p:txBody>
      </p:sp>
      <p:sp>
        <p:nvSpPr>
          <p:cNvPr id="1676515153" name="Shape 7"/>
          <p:cNvSpPr/>
          <p:nvPr/>
        </p:nvSpPr>
        <p:spPr bwMode="auto">
          <a:xfrm>
            <a:off x="6114082" y="2685155"/>
            <a:ext cx="2543248" cy="1417587"/>
          </a:xfrm>
          <a:prstGeom prst="roundRect">
            <a:avLst>
              <a:gd name="adj" fmla="val 9001"/>
            </a:avLst>
          </a:prstGeom>
          <a:solidFill>
            <a:srgbClr val="EDF2ED"/>
          </a:solidFill>
          <a:ln/>
        </p:spPr>
      </p:sp>
      <p:sp>
        <p:nvSpPr>
          <p:cNvPr id="970668459" name="Shape 8"/>
          <p:cNvSpPr/>
          <p:nvPr/>
        </p:nvSpPr>
        <p:spPr bwMode="auto">
          <a:xfrm>
            <a:off x="6107013" y="2685155"/>
            <a:ext cx="2557387" cy="1417587"/>
          </a:xfrm>
          <a:prstGeom prst="roundRect">
            <a:avLst>
              <a:gd name="adj" fmla="val 1500"/>
            </a:avLst>
          </a:prstGeom>
          <a:solidFill>
            <a:srgbClr val="EDF2ED"/>
          </a:solidFill>
          <a:ln/>
        </p:spPr>
      </p:sp>
      <p:sp>
        <p:nvSpPr>
          <p:cNvPr id="1165090818" name="Text 9"/>
          <p:cNvSpPr/>
          <p:nvPr/>
        </p:nvSpPr>
        <p:spPr bwMode="auto">
          <a:xfrm>
            <a:off x="6284192" y="2826915"/>
            <a:ext cx="2203027" cy="1134069"/>
          </a:xfrm>
          <a:prstGeom prst="rect">
            <a:avLst/>
          </a:prstGeom>
          <a:noFill/>
          <a:ln/>
        </p:spPr>
        <p:txBody>
          <a:bodyPr wrap="square" lIns="0" tIns="0" rIns="0" bIns="0" rtlCol="0" anchor="t">
            <a:normAutofit/>
          </a:bodyPr>
          <a:lstStyle/>
          <a:p>
            <a:pPr marL="0" indent="0" algn="l">
              <a:lnSpc>
                <a:spcPct val="133000"/>
              </a:lnSpc>
              <a:buNone/>
              <a:defRPr/>
            </a:pPr>
            <a:r>
              <a:rPr lang="en-US" sz="1100">
                <a:solidFill>
                  <a:srgbClr val="405449"/>
                </a:solidFill>
                <a:latin typeface="Consolas"/>
                <a:ea typeface="Consolas"/>
                <a:cs typeface="Consolas"/>
              </a:rPr>
              <a:t>```python</a:t>
            </a:r>
            <a:endParaRPr lang="en-US" sz="1100"/>
          </a:p>
          <a:p>
            <a:pPr marL="0" indent="0" algn="l">
              <a:lnSpc>
                <a:spcPct val="133000"/>
              </a:lnSpc>
              <a:buNone/>
              <a:defRPr/>
            </a:pPr>
            <a:r>
              <a:rPr lang="en-US" sz="1100">
                <a:solidFill>
                  <a:srgbClr val="405449"/>
                </a:solidFill>
                <a:latin typeface="Consolas"/>
                <a:ea typeface="Consolas"/>
                <a:cs typeface="Consolas"/>
              </a:rPr>
              <a:t>silver_df = bronze_df.dropDuplicates()</a:t>
            </a:r>
            <a:endParaRPr lang="en-US" sz="1100"/>
          </a:p>
          <a:p>
            <a:pPr marL="0" indent="0" algn="l">
              <a:lnSpc>
                <a:spcPct val="133000"/>
              </a:lnSpc>
              <a:buNone/>
              <a:defRPr/>
            </a:pPr>
            <a:r>
              <a:rPr lang="en-US" sz="1100">
                <a:solidFill>
                  <a:srgbClr val="405449"/>
                </a:solidFill>
                <a:latin typeface="Consolas"/>
                <a:ea typeface="Consolas"/>
                <a:cs typeface="Consolas"/>
              </a:rPr>
              <a:t>silver_df = silver_df.na.fill("Unknown")</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6802154" name="Text 0"/>
          <p:cNvSpPr/>
          <p:nvPr/>
        </p:nvSpPr>
        <p:spPr bwMode="auto">
          <a:xfrm flipH="0" flipV="0">
            <a:off x="827335" y="422596"/>
            <a:ext cx="7493941" cy="363769"/>
          </a:xfrm>
          <a:prstGeom prst="rect">
            <a:avLst/>
          </a:prstGeom>
          <a:noFill/>
          <a:ln/>
        </p:spPr>
        <p:txBody>
          <a:bodyPr wrap="square" lIns="0" tIns="0" rIns="0" bIns="0" rtlCol="0" anchor="t"/>
          <a:lstStyle/>
          <a:p>
            <a:pPr marL="0" indent="0" algn="ctr">
              <a:lnSpc>
                <a:spcPct val="104000"/>
              </a:lnSpc>
              <a:buNone/>
              <a:defRPr/>
            </a:pPr>
            <a:r>
              <a:rPr lang="en-US" sz="1700">
                <a:solidFill>
                  <a:srgbClr val="3B4540"/>
                </a:solidFill>
                <a:latin typeface="Fraunces ExtraBold"/>
                <a:ea typeface="Fraunces ExtraBold"/>
                <a:cs typeface="Fraunces ExtraBold"/>
              </a:rPr>
              <a:t>Gold Layer Enrichment</a:t>
            </a:r>
            <a:endParaRPr lang="en-US" sz="1700"/>
          </a:p>
        </p:txBody>
      </p:sp>
      <p:sp>
        <p:nvSpPr>
          <p:cNvPr id="1588079381" name="Text 1"/>
          <p:cNvSpPr/>
          <p:nvPr/>
        </p:nvSpPr>
        <p:spPr bwMode="auto">
          <a:xfrm>
            <a:off x="827335" y="860077"/>
            <a:ext cx="7489253" cy="306585"/>
          </a:xfrm>
          <a:prstGeom prst="rect">
            <a:avLst/>
          </a:prstGeom>
          <a:noFill/>
          <a:ln/>
        </p:spPr>
        <p:txBody>
          <a:bodyPr wrap="square" lIns="0" tIns="0" rIns="0" bIns="0" rtlCol="0" anchor="t">
            <a:normAutofit/>
          </a:bodyPr>
          <a:lstStyle/>
          <a:p>
            <a:pPr marL="0" indent="0" algn="l">
              <a:lnSpc>
                <a:spcPct val="118000"/>
              </a:lnSpc>
              <a:buNone/>
              <a:defRPr/>
            </a:pPr>
            <a:r>
              <a:rPr lang="en-US" sz="850">
                <a:solidFill>
                  <a:srgbClr val="405449"/>
                </a:solidFill>
                <a:latin typeface="Nobile"/>
                <a:ea typeface="Nobile"/>
                <a:cs typeface="Nobile"/>
              </a:rPr>
              <a:t>Objective: produce analytics-ready, business-curated datasets with risk scoring and KPI-ready aggregates. Gold is optimized for BI, ML training, and reporting.</a:t>
            </a:r>
            <a:endParaRPr lang="en-US" sz="850"/>
          </a:p>
        </p:txBody>
      </p:sp>
      <p:sp>
        <p:nvSpPr>
          <p:cNvPr id="1131768977" name="Shape 2"/>
          <p:cNvSpPr/>
          <p:nvPr/>
        </p:nvSpPr>
        <p:spPr bwMode="auto">
          <a:xfrm>
            <a:off x="827335" y="1260127"/>
            <a:ext cx="7489253" cy="1339750"/>
          </a:xfrm>
          <a:prstGeom prst="roundRect">
            <a:avLst>
              <a:gd name="adj" fmla="val 7291"/>
            </a:avLst>
          </a:prstGeom>
          <a:solidFill>
            <a:srgbClr val="E8F3E8"/>
          </a:solidFill>
          <a:ln/>
        </p:spPr>
      </p:sp>
      <p:sp>
        <p:nvSpPr>
          <p:cNvPr id="888752662" name="Shape 3"/>
          <p:cNvSpPr/>
          <p:nvPr/>
        </p:nvSpPr>
        <p:spPr bwMode="auto">
          <a:xfrm>
            <a:off x="827335" y="1260127"/>
            <a:ext cx="3744589" cy="1339750"/>
          </a:xfrm>
          <a:prstGeom prst="rect">
            <a:avLst/>
          </a:prstGeom>
          <a:solidFill>
            <a:srgbClr val="E8F3E8"/>
          </a:solidFill>
          <a:ln/>
        </p:spPr>
      </p:sp>
      <p:sp>
        <p:nvSpPr>
          <p:cNvPr id="607419461" name="Text 4"/>
          <p:cNvSpPr/>
          <p:nvPr/>
        </p:nvSpPr>
        <p:spPr bwMode="auto">
          <a:xfrm>
            <a:off x="935830" y="1368621"/>
            <a:ext cx="1718667" cy="169515"/>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Risk Scoring Rule Matrix</a:t>
            </a:r>
            <a:endParaRPr lang="en-US" sz="1050"/>
          </a:p>
        </p:txBody>
      </p:sp>
      <p:sp>
        <p:nvSpPr>
          <p:cNvPr id="429481139" name="Text 5"/>
          <p:cNvSpPr/>
          <p:nvPr/>
        </p:nvSpPr>
        <p:spPr bwMode="auto">
          <a:xfrm>
            <a:off x="935830" y="1587996"/>
            <a:ext cx="352759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Rules applied per login event to compute a dynamic risk score:</a:t>
            </a:r>
            <a:endParaRPr lang="en-US" sz="850"/>
          </a:p>
        </p:txBody>
      </p:sp>
      <p:sp>
        <p:nvSpPr>
          <p:cNvPr id="1263774687" name="Text 6"/>
          <p:cNvSpPr/>
          <p:nvPr/>
        </p:nvSpPr>
        <p:spPr bwMode="auto">
          <a:xfrm>
            <a:off x="935830" y="1791145"/>
            <a:ext cx="3527598" cy="700236"/>
          </a:xfrm>
          <a:prstGeom prst="rect">
            <a:avLst/>
          </a:prstGeom>
          <a:noFill/>
          <a:ln/>
        </p:spPr>
        <p:txBody>
          <a:bodyPr wrap="square" lIns="0" tIns="0" rIns="0" bIns="0" rtlCol="0" anchor="t">
            <a:normAutofit/>
          </a:bodyPr>
          <a:lstStyle/>
          <a:p>
            <a:pPr marL="342900" indent="-342900" algn="l">
              <a:lnSpc>
                <a:spcPct val="118000"/>
              </a:lnSpc>
              <a:buSzPct val="100000"/>
              <a:buChar char="•"/>
              <a:defRPr/>
            </a:pPr>
            <a:r>
              <a:rPr lang="en-US" sz="850">
                <a:solidFill>
                  <a:srgbClr val="405449"/>
                </a:solidFill>
                <a:latin typeface="Nobile"/>
                <a:ea typeface="Nobile"/>
                <a:cs typeface="Nobile"/>
              </a:rPr>
              <a:t>New Device: +25</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New Location: +30</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VPN Used: +20</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Failed Attempts &gt; 3: +15</a:t>
            </a:r>
            <a:endParaRPr lang="en-US" sz="850"/>
          </a:p>
        </p:txBody>
      </p:sp>
      <p:sp>
        <p:nvSpPr>
          <p:cNvPr id="780229915" name="Shape 7"/>
          <p:cNvSpPr/>
          <p:nvPr/>
        </p:nvSpPr>
        <p:spPr bwMode="auto">
          <a:xfrm>
            <a:off x="4571925" y="1260127"/>
            <a:ext cx="3744663" cy="1339750"/>
          </a:xfrm>
          <a:prstGeom prst="rect">
            <a:avLst/>
          </a:prstGeom>
          <a:solidFill>
            <a:srgbClr val="E8F3E8"/>
          </a:solidFill>
          <a:ln/>
        </p:spPr>
      </p:sp>
      <p:sp>
        <p:nvSpPr>
          <p:cNvPr id="1708801505" name="Shape 8"/>
          <p:cNvSpPr/>
          <p:nvPr/>
        </p:nvSpPr>
        <p:spPr bwMode="auto">
          <a:xfrm>
            <a:off x="4571925" y="1260127"/>
            <a:ext cx="14287" cy="1339750"/>
          </a:xfrm>
          <a:prstGeom prst="roundRect">
            <a:avLst>
              <a:gd name="adj" fmla="val 683696"/>
            </a:avLst>
          </a:prstGeom>
          <a:solidFill>
            <a:srgbClr val="CED9CE"/>
          </a:solidFill>
          <a:ln/>
        </p:spPr>
      </p:sp>
      <p:sp>
        <p:nvSpPr>
          <p:cNvPr id="100025907" name="Text 9"/>
          <p:cNvSpPr/>
          <p:nvPr/>
        </p:nvSpPr>
        <p:spPr bwMode="auto">
          <a:xfrm>
            <a:off x="4680420" y="1368621"/>
            <a:ext cx="1879996" cy="169515"/>
          </a:xfrm>
          <a:prstGeom prst="rect">
            <a:avLst/>
          </a:prstGeom>
          <a:noFill/>
          <a:ln/>
        </p:spPr>
        <p:txBody>
          <a:bodyPr wrap="none" lIns="0" tIns="0" rIns="0" bIns="0" rtlCol="0" anchor="t"/>
          <a:lstStyle/>
          <a:p>
            <a:pPr marL="0" indent="0" algn="l">
              <a:lnSpc>
                <a:spcPct val="104000"/>
              </a:lnSpc>
              <a:buNone/>
              <a:defRPr/>
            </a:pPr>
            <a:r>
              <a:rPr lang="en-US" sz="1050">
                <a:solidFill>
                  <a:srgbClr val="405449"/>
                </a:solidFill>
                <a:latin typeface="Fraunces ExtraBold"/>
                <a:ea typeface="Fraunces ExtraBold"/>
                <a:cs typeface="Fraunces ExtraBold"/>
              </a:rPr>
              <a:t>Login Classification &amp; KPIs</a:t>
            </a:r>
            <a:endParaRPr lang="en-US" sz="1050"/>
          </a:p>
        </p:txBody>
      </p:sp>
      <p:sp>
        <p:nvSpPr>
          <p:cNvPr id="3568222" name="Text 10"/>
          <p:cNvSpPr/>
          <p:nvPr/>
        </p:nvSpPr>
        <p:spPr bwMode="auto">
          <a:xfrm>
            <a:off x="4680420" y="1587996"/>
            <a:ext cx="3527672"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Derived metrics:</a:t>
            </a:r>
            <a:endParaRPr lang="en-US" sz="850"/>
          </a:p>
        </p:txBody>
      </p:sp>
      <p:sp>
        <p:nvSpPr>
          <p:cNvPr id="1497609281" name="Text 11"/>
          <p:cNvSpPr/>
          <p:nvPr/>
        </p:nvSpPr>
        <p:spPr bwMode="auto">
          <a:xfrm>
            <a:off x="4680420" y="1791145"/>
            <a:ext cx="3527672" cy="700236"/>
          </a:xfrm>
          <a:prstGeom prst="rect">
            <a:avLst/>
          </a:prstGeom>
          <a:noFill/>
          <a:ln/>
        </p:spPr>
        <p:txBody>
          <a:bodyPr wrap="square" lIns="0" tIns="0" rIns="0" bIns="0" rtlCol="0" anchor="t">
            <a:normAutofit/>
          </a:bodyPr>
          <a:lstStyle/>
          <a:p>
            <a:pPr marL="342900" indent="-342900" algn="l">
              <a:lnSpc>
                <a:spcPct val="118000"/>
              </a:lnSpc>
              <a:buSzPct val="100000"/>
              <a:buChar char="•"/>
              <a:defRPr/>
            </a:pPr>
            <a:r>
              <a:rPr lang="en-US" sz="850">
                <a:solidFill>
                  <a:srgbClr val="405449"/>
                </a:solidFill>
                <a:latin typeface="Nobile"/>
                <a:ea typeface="Nobile"/>
                <a:cs typeface="Nobile"/>
              </a:rPr>
              <a:t>High-Risk Logins: risk_score &gt; threshold</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Risk Distribution: buckets (low/medium/high)</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Avg. Risk per User / Device / Geo</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False positive rate and detection latency</a:t>
            </a:r>
            <a:endParaRPr lang="en-US" sz="850"/>
          </a:p>
        </p:txBody>
      </p:sp>
      <p:sp>
        <p:nvSpPr>
          <p:cNvPr id="586450988" name="Text 12"/>
          <p:cNvSpPr/>
          <p:nvPr/>
        </p:nvSpPr>
        <p:spPr bwMode="auto">
          <a:xfrm>
            <a:off x="827335" y="2776388"/>
            <a:ext cx="3092573" cy="169515"/>
          </a:xfrm>
          <a:prstGeom prst="rect">
            <a:avLst/>
          </a:prstGeom>
          <a:noFill/>
          <a:ln/>
        </p:spPr>
        <p:txBody>
          <a:bodyPr wrap="none" lIns="0" tIns="0" rIns="0" bIns="0" rtlCol="0" anchor="t"/>
          <a:lstStyle/>
          <a:p>
            <a:pPr marL="0" indent="0" algn="l">
              <a:lnSpc>
                <a:spcPct val="104000"/>
              </a:lnSpc>
              <a:buNone/>
              <a:defRPr/>
            </a:pPr>
            <a:r>
              <a:rPr lang="en-US" sz="1050">
                <a:solidFill>
                  <a:srgbClr val="3B4540"/>
                </a:solidFill>
                <a:latin typeface="Fraunces ExtraBold"/>
                <a:ea typeface="Fraunces ExtraBold"/>
                <a:cs typeface="Fraunces ExtraBold"/>
              </a:rPr>
              <a:t>Risk Score Engine — Rule Matrix Table</a:t>
            </a:r>
            <a:endParaRPr lang="en-US" sz="1050"/>
          </a:p>
        </p:txBody>
      </p:sp>
      <p:sp>
        <p:nvSpPr>
          <p:cNvPr id="1161786251" name="Shape 13"/>
          <p:cNvSpPr/>
          <p:nvPr/>
        </p:nvSpPr>
        <p:spPr bwMode="auto">
          <a:xfrm>
            <a:off x="827335" y="3039367"/>
            <a:ext cx="3612206" cy="1341238"/>
          </a:xfrm>
          <a:prstGeom prst="roundRect">
            <a:avLst>
              <a:gd name="adj" fmla="val 7283"/>
            </a:avLst>
          </a:prstGeom>
          <a:noFill/>
          <a:ln w="4763">
            <a:solidFill>
              <a:srgbClr val="000000">
                <a:alpha val="7999"/>
              </a:srgbClr>
            </a:solidFill>
            <a:prstDash val="solid"/>
          </a:ln>
        </p:spPr>
      </p:sp>
      <p:sp>
        <p:nvSpPr>
          <p:cNvPr id="444732377" name="Text 14"/>
          <p:cNvSpPr/>
          <p:nvPr/>
        </p:nvSpPr>
        <p:spPr bwMode="auto">
          <a:xfrm>
            <a:off x="940593" y="3098749"/>
            <a:ext cx="2039168" cy="153291"/>
          </a:xfrm>
          <a:prstGeom prst="rect">
            <a:avLst/>
          </a:prstGeom>
          <a:noFill/>
          <a:ln/>
        </p:spPr>
        <p:txBody>
          <a:bodyPr wrap="none" lIns="0" tIns="0" rIns="0" bIns="0" rtlCol="0" anchor="t"/>
          <a:lstStyle/>
          <a:p>
            <a:pPr marL="0" indent="0" algn="l">
              <a:lnSpc>
                <a:spcPct val="118000"/>
              </a:lnSpc>
              <a:buNone/>
              <a:defRPr/>
            </a:pPr>
            <a:r>
              <a:rPr lang="en-US" sz="850" b="1">
                <a:solidFill>
                  <a:srgbClr val="405449"/>
                </a:solidFill>
                <a:latin typeface="Nobile"/>
                <a:ea typeface="Nobile"/>
                <a:cs typeface="Nobile"/>
              </a:rPr>
              <a:t>Condition</a:t>
            </a:r>
            <a:endParaRPr lang="en-US" sz="850"/>
          </a:p>
        </p:txBody>
      </p:sp>
      <p:sp>
        <p:nvSpPr>
          <p:cNvPr id="1760537035" name="Text 15"/>
          <p:cNvSpPr/>
          <p:nvPr/>
        </p:nvSpPr>
        <p:spPr bwMode="auto">
          <a:xfrm>
            <a:off x="2744315" y="3098749"/>
            <a:ext cx="2039168" cy="153291"/>
          </a:xfrm>
          <a:prstGeom prst="rect">
            <a:avLst/>
          </a:prstGeom>
          <a:noFill/>
          <a:ln/>
        </p:spPr>
        <p:txBody>
          <a:bodyPr wrap="none" lIns="0" tIns="0" rIns="0" bIns="0" rtlCol="0" anchor="t"/>
          <a:lstStyle/>
          <a:p>
            <a:pPr marL="0" indent="0" algn="l">
              <a:lnSpc>
                <a:spcPct val="118000"/>
              </a:lnSpc>
              <a:buNone/>
              <a:defRPr/>
            </a:pPr>
            <a:r>
              <a:rPr lang="en-US" sz="850" b="1">
                <a:solidFill>
                  <a:srgbClr val="405449"/>
                </a:solidFill>
                <a:latin typeface="Nobile"/>
                <a:ea typeface="Nobile"/>
                <a:cs typeface="Nobile"/>
              </a:rPr>
              <a:t>Score</a:t>
            </a:r>
            <a:endParaRPr lang="en-US" sz="850"/>
          </a:p>
        </p:txBody>
      </p:sp>
      <p:sp>
        <p:nvSpPr>
          <p:cNvPr id="1314410993" name="Text 16"/>
          <p:cNvSpPr/>
          <p:nvPr/>
        </p:nvSpPr>
        <p:spPr bwMode="auto">
          <a:xfrm>
            <a:off x="940593" y="3366045"/>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New Device</a:t>
            </a:r>
            <a:endParaRPr lang="en-US" sz="850"/>
          </a:p>
        </p:txBody>
      </p:sp>
      <p:sp>
        <p:nvSpPr>
          <p:cNvPr id="1925919678" name="Text 17"/>
          <p:cNvSpPr/>
          <p:nvPr/>
        </p:nvSpPr>
        <p:spPr bwMode="auto">
          <a:xfrm>
            <a:off x="2744315" y="3366045"/>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+25</a:t>
            </a:r>
            <a:endParaRPr lang="en-US" sz="850"/>
          </a:p>
        </p:txBody>
      </p:sp>
      <p:sp>
        <p:nvSpPr>
          <p:cNvPr id="883668533" name="Text 18"/>
          <p:cNvSpPr/>
          <p:nvPr/>
        </p:nvSpPr>
        <p:spPr bwMode="auto">
          <a:xfrm>
            <a:off x="940593" y="3633340"/>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New Location</a:t>
            </a:r>
            <a:endParaRPr lang="en-US" sz="850"/>
          </a:p>
        </p:txBody>
      </p:sp>
      <p:sp>
        <p:nvSpPr>
          <p:cNvPr id="2019868692" name="Text 19"/>
          <p:cNvSpPr/>
          <p:nvPr/>
        </p:nvSpPr>
        <p:spPr bwMode="auto">
          <a:xfrm>
            <a:off x="2744315" y="3633340"/>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+30</a:t>
            </a:r>
            <a:endParaRPr lang="en-US" sz="850"/>
          </a:p>
        </p:txBody>
      </p:sp>
      <p:sp>
        <p:nvSpPr>
          <p:cNvPr id="1070756449" name="Text 20"/>
          <p:cNvSpPr/>
          <p:nvPr/>
        </p:nvSpPr>
        <p:spPr bwMode="auto">
          <a:xfrm>
            <a:off x="940593" y="3900636"/>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VPN Used</a:t>
            </a:r>
            <a:endParaRPr lang="en-US" sz="850"/>
          </a:p>
        </p:txBody>
      </p:sp>
      <p:sp>
        <p:nvSpPr>
          <p:cNvPr id="2145535882" name="Text 21"/>
          <p:cNvSpPr/>
          <p:nvPr/>
        </p:nvSpPr>
        <p:spPr bwMode="auto">
          <a:xfrm>
            <a:off x="2744315" y="3900636"/>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+20</a:t>
            </a:r>
            <a:endParaRPr lang="en-US" sz="850"/>
          </a:p>
        </p:txBody>
      </p:sp>
      <p:sp>
        <p:nvSpPr>
          <p:cNvPr id="309945654" name="Text 22"/>
          <p:cNvSpPr/>
          <p:nvPr/>
        </p:nvSpPr>
        <p:spPr bwMode="auto">
          <a:xfrm>
            <a:off x="940593" y="4167931"/>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Failed Attempts &gt; 3</a:t>
            </a:r>
            <a:endParaRPr lang="en-US" sz="850"/>
          </a:p>
        </p:txBody>
      </p:sp>
      <p:sp>
        <p:nvSpPr>
          <p:cNvPr id="404346915" name="Text 23"/>
          <p:cNvSpPr/>
          <p:nvPr/>
        </p:nvSpPr>
        <p:spPr bwMode="auto">
          <a:xfrm>
            <a:off x="2744315" y="4167931"/>
            <a:ext cx="2039168"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+15</a:t>
            </a:r>
            <a:endParaRPr lang="en-US" sz="850"/>
          </a:p>
        </p:txBody>
      </p:sp>
      <p:sp>
        <p:nvSpPr>
          <p:cNvPr id="475526109" name="Text 24"/>
          <p:cNvSpPr/>
          <p:nvPr/>
        </p:nvSpPr>
        <p:spPr bwMode="auto">
          <a:xfrm>
            <a:off x="4709070" y="2776388"/>
            <a:ext cx="1956568" cy="169515"/>
          </a:xfrm>
          <a:prstGeom prst="rect">
            <a:avLst/>
          </a:prstGeom>
          <a:noFill/>
          <a:ln/>
        </p:spPr>
        <p:txBody>
          <a:bodyPr wrap="none" lIns="0" tIns="0" rIns="0" bIns="0" rtlCol="0" anchor="t"/>
          <a:lstStyle/>
          <a:p>
            <a:pPr marL="0" indent="0" algn="l">
              <a:lnSpc>
                <a:spcPct val="104000"/>
              </a:lnSpc>
              <a:buNone/>
              <a:defRPr/>
            </a:pPr>
            <a:r>
              <a:rPr lang="en-US" sz="1050">
                <a:solidFill>
                  <a:srgbClr val="3B4540"/>
                </a:solidFill>
                <a:latin typeface="Fraunces ExtraBold"/>
                <a:ea typeface="Fraunces ExtraBold"/>
                <a:cs typeface="Fraunces ExtraBold"/>
              </a:rPr>
              <a:t>Risk KPI Aggregation</a:t>
            </a:r>
            <a:endParaRPr lang="en-US" sz="1050"/>
          </a:p>
        </p:txBody>
      </p:sp>
      <p:sp>
        <p:nvSpPr>
          <p:cNvPr id="1243988879" name="Text 25"/>
          <p:cNvSpPr/>
          <p:nvPr/>
        </p:nvSpPr>
        <p:spPr bwMode="auto">
          <a:xfrm>
            <a:off x="4709070" y="3028950"/>
            <a:ext cx="4069406"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Aggregate example queries produce:</a:t>
            </a:r>
            <a:endParaRPr lang="en-US" sz="850"/>
          </a:p>
        </p:txBody>
      </p:sp>
      <p:sp>
        <p:nvSpPr>
          <p:cNvPr id="1044078016" name="Text 26"/>
          <p:cNvSpPr/>
          <p:nvPr/>
        </p:nvSpPr>
        <p:spPr bwMode="auto">
          <a:xfrm>
            <a:off x="4709070" y="3257028"/>
            <a:ext cx="3612206" cy="517921"/>
          </a:xfrm>
          <a:prstGeom prst="rect">
            <a:avLst/>
          </a:prstGeom>
          <a:noFill/>
          <a:ln/>
        </p:spPr>
        <p:txBody>
          <a:bodyPr wrap="square" lIns="0" tIns="0" rIns="0" bIns="0" rtlCol="0" anchor="t">
            <a:normAutofit/>
          </a:bodyPr>
          <a:lstStyle/>
          <a:p>
            <a:pPr marL="342900" indent="-342900" algn="l">
              <a:lnSpc>
                <a:spcPct val="118000"/>
              </a:lnSpc>
              <a:buSzPct val="100000"/>
              <a:buChar char="•"/>
              <a:defRPr/>
            </a:pPr>
            <a:r>
              <a:rPr lang="en-US" sz="850">
                <a:solidFill>
                  <a:srgbClr val="405449"/>
                </a:solidFill>
                <a:latin typeface="Nobile"/>
                <a:ea typeface="Nobile"/>
                <a:cs typeface="Nobile"/>
              </a:rPr>
              <a:t>Daily high-risk login counts</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User risk trend (7/30 day windows)</a:t>
            </a:r>
            <a:endParaRPr lang="en-US" sz="850"/>
          </a:p>
          <a:p>
            <a:pPr marL="342900" indent="-342900" algn="l">
              <a:lnSpc>
                <a:spcPct val="118000"/>
              </a:lnSpc>
              <a:buSzPct val="100000"/>
              <a:buChar char="•"/>
              <a:defRPr/>
            </a:pPr>
            <a:r>
              <a:rPr lang="en-US" sz="850">
                <a:solidFill>
                  <a:srgbClr val="405449"/>
                </a:solidFill>
                <a:latin typeface="Nobile"/>
                <a:ea typeface="Nobile"/>
                <a:cs typeface="Nobile"/>
              </a:rPr>
              <a:t>Detection precision/recall for flagged sessions</a:t>
            </a:r>
            <a:endParaRPr lang="en-US" sz="850"/>
          </a:p>
        </p:txBody>
      </p:sp>
      <p:sp>
        <p:nvSpPr>
          <p:cNvPr id="177046340" name="Shape 27"/>
          <p:cNvSpPr/>
          <p:nvPr/>
        </p:nvSpPr>
        <p:spPr bwMode="auto">
          <a:xfrm>
            <a:off x="4709070" y="3868414"/>
            <a:ext cx="3612206" cy="510331"/>
          </a:xfrm>
          <a:prstGeom prst="roundRect">
            <a:avLst>
              <a:gd name="adj" fmla="val 19142"/>
            </a:avLst>
          </a:prstGeom>
          <a:solidFill>
            <a:srgbClr val="CCE6D1"/>
          </a:solidFill>
          <a:ln/>
        </p:spPr>
      </p:sp>
      <p:pic>
        <p:nvPicPr>
          <p:cNvPr id="1535157167" name="Image 0" descr="preencoded.png"/>
          <p:cNvPicPr>
            <a:picLocks noChangeAspect="1"/>
          </p:cNvPicPr>
          <p:nvPr/>
        </p:nvPicPr>
        <p:blipFill>
          <a:blip r:embed="rId3"/>
          <a:stretch/>
        </p:blipFill>
        <p:spPr bwMode="auto">
          <a:xfrm>
            <a:off x="4817565" y="4013820"/>
            <a:ext cx="135657" cy="108495"/>
          </a:xfrm>
          <a:prstGeom prst="rect">
            <a:avLst/>
          </a:prstGeom>
        </p:spPr>
      </p:pic>
      <p:sp>
        <p:nvSpPr>
          <p:cNvPr id="690205644" name="Text 28"/>
          <p:cNvSpPr/>
          <p:nvPr/>
        </p:nvSpPr>
        <p:spPr bwMode="auto">
          <a:xfrm>
            <a:off x="5061718" y="3970287"/>
            <a:ext cx="3151062" cy="306585"/>
          </a:xfrm>
          <a:prstGeom prst="rect">
            <a:avLst/>
          </a:prstGeom>
          <a:noFill/>
          <a:ln/>
        </p:spPr>
        <p:txBody>
          <a:bodyPr wrap="square" lIns="0" tIns="0" rIns="0" bIns="0" rtlCol="0" anchor="t">
            <a:normAutofit/>
          </a:bodyPr>
          <a:lstStyle/>
          <a:p>
            <a:pPr marL="0" indent="0" algn="l">
              <a:lnSpc>
                <a:spcPct val="118000"/>
              </a:lnSpc>
              <a:buNone/>
              <a:defRPr/>
            </a:pPr>
            <a:r>
              <a:rPr lang="en-US" sz="850">
                <a:solidFill>
                  <a:srgbClr val="000000"/>
                </a:solidFill>
                <a:latin typeface="Nobile"/>
                <a:ea typeface="Nobile"/>
                <a:cs typeface="Nobile"/>
              </a:rPr>
              <a:t>Thresholds must be tuned by SOC during deployment; scores are additive and calibrated against historical baselines.</a:t>
            </a:r>
            <a:endParaRPr lang="en-US" sz="850"/>
          </a:p>
        </p:txBody>
      </p:sp>
      <p:sp>
        <p:nvSpPr>
          <p:cNvPr id="1811084932" name="Text 29"/>
          <p:cNvSpPr/>
          <p:nvPr/>
        </p:nvSpPr>
        <p:spPr bwMode="auto">
          <a:xfrm>
            <a:off x="827335" y="4567534"/>
            <a:ext cx="7946453" cy="153291"/>
          </a:xfrm>
          <a:prstGeom prst="rect">
            <a:avLst/>
          </a:prstGeom>
          <a:noFill/>
          <a:ln/>
        </p:spPr>
        <p:txBody>
          <a:bodyPr wrap="none" lIns="0" tIns="0" rIns="0" bIns="0" rtlCol="0" anchor="t"/>
          <a:lstStyle/>
          <a:p>
            <a:pPr marL="0" indent="0" algn="l">
              <a:lnSpc>
                <a:spcPct val="118000"/>
              </a:lnSpc>
              <a:buNone/>
              <a:defRPr/>
            </a:pPr>
            <a:r>
              <a:rPr lang="en-US" sz="850">
                <a:solidFill>
                  <a:srgbClr val="405449"/>
                </a:solidFill>
                <a:latin typeface="Nobile"/>
                <a:ea typeface="Nobile"/>
                <a:cs typeface="Nobile"/>
              </a:rPr>
              <a:t>[Risk Score Correlation Heatmap]</a:t>
            </a:r>
            <a:endParaRPr lang="en-US" sz="8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2118576751" name="Text 0"/>
          <p:cNvSpPr/>
          <p:nvPr/>
        </p:nvSpPr>
        <p:spPr bwMode="auto">
          <a:xfrm flipH="0" flipV="0">
            <a:off x="496118" y="434875"/>
            <a:ext cx="8151762" cy="346839"/>
          </a:xfrm>
          <a:prstGeom prst="rect">
            <a:avLst/>
          </a:prstGeom>
          <a:noFill/>
          <a:ln/>
        </p:spPr>
        <p:txBody>
          <a:bodyPr wrap="square" lIns="0" tIns="0" rIns="0" bIns="0" rtlCol="0" anchor="t"/>
          <a:lstStyle/>
          <a:p>
            <a:pPr marL="0" indent="0" algn="ctr">
              <a:lnSpc>
                <a:spcPct val="104000"/>
              </a:lnSpc>
              <a:buNone/>
              <a:defRPr/>
            </a:pPr>
            <a:r>
              <a:rPr lang="en-US" sz="2100">
                <a:solidFill>
                  <a:srgbClr val="3B4540"/>
                </a:solidFill>
                <a:latin typeface="Fraunces ExtraBold"/>
                <a:ea typeface="Fraunces ExtraBold"/>
                <a:cs typeface="Fraunces ExtraBold"/>
              </a:rPr>
              <a:t>Data Loading &amp; Analytics Warehouse</a:t>
            </a:r>
            <a:endParaRPr lang="en-US" sz="2100"/>
          </a:p>
        </p:txBody>
      </p:sp>
      <p:sp>
        <p:nvSpPr>
          <p:cNvPr id="260267103" name="Text 1"/>
          <p:cNvSpPr/>
          <p:nvPr/>
        </p:nvSpPr>
        <p:spPr bwMode="auto">
          <a:xfrm>
            <a:off x="496118" y="1030262"/>
            <a:ext cx="8608962" cy="211113"/>
          </a:xfrm>
          <a:prstGeom prst="rect">
            <a:avLst/>
          </a:prstGeom>
          <a:noFill/>
          <a:ln/>
        </p:spPr>
        <p:txBody>
          <a:bodyPr wrap="none" lIns="0" tIns="0" rIns="0" bIns="0" rtlCol="0" anchor="t"/>
          <a:lstStyle/>
          <a:p>
            <a:pPr marL="0" indent="0" algn="l">
              <a:lnSpc>
                <a:spcPct val="130000"/>
              </a:lnSpc>
              <a:buNone/>
              <a:defRPr/>
            </a:pPr>
            <a:r>
              <a:rPr lang="en-US" sz="1050">
                <a:solidFill>
                  <a:srgbClr val="405449"/>
                </a:solidFill>
                <a:latin typeface="Nobile"/>
                <a:ea typeface="Nobile"/>
                <a:cs typeface="Nobile"/>
              </a:rPr>
              <a:t>Goal: move curated Gold datasets into the production analytics warehouse with performance, governance, and stability.</a:t>
            </a:r>
            <a:endParaRPr lang="en-US" sz="1050"/>
          </a:p>
        </p:txBody>
      </p:sp>
      <p:sp>
        <p:nvSpPr>
          <p:cNvPr id="1691014259" name="Text 2"/>
          <p:cNvSpPr/>
          <p:nvPr/>
        </p:nvSpPr>
        <p:spPr bwMode="auto">
          <a:xfrm>
            <a:off x="496118" y="1434553"/>
            <a:ext cx="8151762" cy="1165473"/>
          </a:xfrm>
          <a:prstGeom prst="rect">
            <a:avLst/>
          </a:prstGeom>
          <a:noFill/>
          <a:ln/>
        </p:spPr>
        <p:txBody>
          <a:bodyPr wrap="square" lIns="0" tIns="0" rIns="0" bIns="0" rtlCol="0" anchor="t">
            <a:normAutofit/>
          </a:bodyPr>
          <a:lstStyle/>
          <a:p>
            <a:pPr marL="0" indent="0" algn="l">
              <a:lnSpc>
                <a:spcPct val="104000"/>
              </a:lnSpc>
              <a:buNone/>
              <a:defRPr/>
            </a:pPr>
            <a:r>
              <a:rPr lang="en-US" sz="3650">
                <a:solidFill>
                  <a:srgbClr val="3B4540"/>
                </a:solidFill>
                <a:latin typeface="Fraunces ExtraBold"/>
                <a:ea typeface="Fraunces ExtraBold"/>
                <a:cs typeface="Fraunces ExtraBold"/>
              </a:rPr>
              <a:t>Delta table lifecycle, partitioning, and query optimization</a:t>
            </a:r>
            <a:endParaRPr lang="en-US" sz="3650"/>
          </a:p>
        </p:txBody>
      </p:sp>
      <p:sp>
        <p:nvSpPr>
          <p:cNvPr id="1134074745" name="Text 3"/>
          <p:cNvSpPr/>
          <p:nvPr/>
        </p:nvSpPr>
        <p:spPr bwMode="auto">
          <a:xfrm>
            <a:off x="496118" y="2921942"/>
            <a:ext cx="3808660" cy="211113"/>
          </a:xfrm>
          <a:prstGeom prst="rect">
            <a:avLst/>
          </a:prstGeom>
          <a:noFill/>
          <a:ln/>
        </p:spPr>
        <p:txBody>
          <a:bodyPr wrap="none" lIns="0" tIns="0" rIns="0" bIns="0" rtlCol="0" anchor="t"/>
          <a:lstStyle/>
          <a:p>
            <a:pPr marL="0" indent="0" algn="l">
              <a:lnSpc>
                <a:spcPct val="104000"/>
              </a:lnSpc>
              <a:buNone/>
              <a:defRPr/>
            </a:pPr>
            <a:r>
              <a:rPr lang="en-US" sz="1300">
                <a:solidFill>
                  <a:srgbClr val="3B4540"/>
                </a:solidFill>
                <a:latin typeface="Fraunces ExtraBold"/>
                <a:ea typeface="Fraunces ExtraBold"/>
                <a:cs typeface="Fraunces ExtraBold"/>
              </a:rPr>
              <a:t>1 → 4: Downstream Loading Workflows</a:t>
            </a:r>
            <a:endParaRPr lang="en-US" sz="1300"/>
          </a:p>
        </p:txBody>
      </p:sp>
      <p:sp>
        <p:nvSpPr>
          <p:cNvPr id="574732272" name="Text 4"/>
          <p:cNvSpPr/>
          <p:nvPr/>
        </p:nvSpPr>
        <p:spPr bwMode="auto">
          <a:xfrm>
            <a:off x="496118" y="3261791"/>
            <a:ext cx="3911053" cy="979511"/>
          </a:xfrm>
          <a:prstGeom prst="rect">
            <a:avLst/>
          </a:prstGeom>
          <a:noFill/>
          <a:ln/>
        </p:spPr>
        <p:txBody>
          <a:bodyPr wrap="square" lIns="0" tIns="0" rIns="0" bIns="0" rtlCol="0" anchor="t">
            <a:normAutofit/>
          </a:bodyPr>
          <a:lstStyle/>
          <a:p>
            <a:pPr marL="342900" indent="-342900" algn="l">
              <a:lnSpc>
                <a:spcPct val="130000"/>
              </a:lnSpc>
              <a:buSzPct val="100000"/>
              <a:buFont typeface="+mj-lt"/>
              <a:buAutoNum type="arabicPeriod" startAt="1"/>
              <a:defRPr/>
            </a:pPr>
            <a:r>
              <a:rPr lang="en-US" sz="1050">
                <a:solidFill>
                  <a:srgbClr val="405449"/>
                </a:solidFill>
                <a:latin typeface="Nobile"/>
                <a:ea typeface="Nobile"/>
                <a:cs typeface="Nobile"/>
              </a:rPr>
              <a:t>1. Incremental materialized views (refresh policies)</a:t>
            </a:r>
            <a:endParaRPr lang="en-US" sz="1050"/>
          </a:p>
          <a:p>
            <a:pPr marL="342900" indent="-342900" algn="l">
              <a:lnSpc>
                <a:spcPct val="130000"/>
              </a:lnSpc>
              <a:buSzPct val="100000"/>
              <a:buFont typeface="+mj-lt"/>
              <a:buAutoNum type="arabicPeriod" startAt="2"/>
              <a:defRPr/>
            </a:pPr>
            <a:r>
              <a:rPr lang="en-US" sz="1050">
                <a:solidFill>
                  <a:srgbClr val="405449"/>
                </a:solidFill>
                <a:latin typeface="Nobile"/>
                <a:ea typeface="Nobile"/>
                <a:cs typeface="Nobile"/>
              </a:rPr>
              <a:t>2. Partitioned Delta tables (date/device/geohash)</a:t>
            </a:r>
            <a:endParaRPr lang="en-US" sz="1050"/>
          </a:p>
          <a:p>
            <a:pPr marL="342900" indent="-342900" algn="l">
              <a:lnSpc>
                <a:spcPct val="130000"/>
              </a:lnSpc>
              <a:buSzPct val="100000"/>
              <a:buFont typeface="+mj-lt"/>
              <a:buAutoNum type="arabicPeriod" startAt="3"/>
              <a:defRPr/>
            </a:pPr>
            <a:r>
              <a:rPr lang="en-US" sz="1050">
                <a:solidFill>
                  <a:srgbClr val="405449"/>
                </a:solidFill>
                <a:latin typeface="Nobile"/>
                <a:ea typeface="Nobile"/>
                <a:cs typeface="Nobile"/>
              </a:rPr>
              <a:t>3. Z-ordering &amp; compaction for hot queries</a:t>
            </a:r>
            <a:endParaRPr lang="en-US" sz="1050"/>
          </a:p>
          <a:p>
            <a:pPr marL="342900" indent="-342900" algn="l">
              <a:lnSpc>
                <a:spcPct val="130000"/>
              </a:lnSpc>
              <a:buSzPct val="100000"/>
              <a:buFont typeface="+mj-lt"/>
              <a:buAutoNum type="arabicPeriod" startAt="4"/>
              <a:defRPr/>
            </a:pPr>
            <a:r>
              <a:rPr lang="en-US" sz="1050">
                <a:solidFill>
                  <a:srgbClr val="405449"/>
                </a:solidFill>
                <a:latin typeface="Nobile"/>
                <a:ea typeface="Nobile"/>
                <a:cs typeface="Nobile"/>
              </a:rPr>
              <a:t>4. Access controls: row-level &amp; column masking</a:t>
            </a:r>
            <a:endParaRPr lang="en-US" sz="1050"/>
          </a:p>
        </p:txBody>
      </p:sp>
      <p:sp>
        <p:nvSpPr>
          <p:cNvPr id="49372233" name="Text 5"/>
          <p:cNvSpPr/>
          <p:nvPr/>
        </p:nvSpPr>
        <p:spPr bwMode="auto">
          <a:xfrm>
            <a:off x="4741589" y="2921942"/>
            <a:ext cx="2820441" cy="211113"/>
          </a:xfrm>
          <a:prstGeom prst="rect">
            <a:avLst/>
          </a:prstGeom>
          <a:noFill/>
          <a:ln/>
        </p:spPr>
        <p:txBody>
          <a:bodyPr wrap="none" lIns="0" tIns="0" rIns="0" bIns="0" rtlCol="0" anchor="t"/>
          <a:lstStyle/>
          <a:p>
            <a:pPr marL="0" indent="0" algn="l">
              <a:lnSpc>
                <a:spcPct val="104000"/>
              </a:lnSpc>
              <a:buNone/>
              <a:defRPr/>
            </a:pPr>
            <a:r>
              <a:rPr lang="en-US" sz="1300">
                <a:solidFill>
                  <a:srgbClr val="3B4540"/>
                </a:solidFill>
                <a:latin typeface="Fraunces ExtraBold"/>
                <a:ea typeface="Fraunces ExtraBold"/>
                <a:cs typeface="Fraunces ExtraBold"/>
              </a:rPr>
              <a:t>Optimization &amp; Governance</a:t>
            </a:r>
            <a:endParaRPr lang="en-US" sz="1300"/>
          </a:p>
        </p:txBody>
      </p:sp>
      <p:sp>
        <p:nvSpPr>
          <p:cNvPr id="204165087" name="Text 6"/>
          <p:cNvSpPr/>
          <p:nvPr/>
        </p:nvSpPr>
        <p:spPr bwMode="auto">
          <a:xfrm>
            <a:off x="4741589" y="3261791"/>
            <a:ext cx="3911053" cy="1401737"/>
          </a:xfrm>
          <a:prstGeom prst="rect">
            <a:avLst/>
          </a:prstGeom>
          <a:noFill/>
          <a:ln/>
        </p:spPr>
        <p:txBody>
          <a:bodyPr wrap="square" lIns="0" tIns="0" rIns="0" bIns="0" rtlCol="0" anchor="t">
            <a:normAutofit/>
          </a:bodyPr>
          <a:lstStyle/>
          <a:p>
            <a:pPr marL="342900" indent="-342900" algn="l">
              <a:lnSpc>
                <a:spcPct val="130000"/>
              </a:lnSpc>
              <a:buSzPct val="100000"/>
              <a:buChar char="•"/>
              <a:defRPr/>
            </a:pPr>
            <a:r>
              <a:rPr lang="en-US" sz="1050">
                <a:solidFill>
                  <a:srgbClr val="405449"/>
                </a:solidFill>
                <a:latin typeface="Nobile"/>
                <a:ea typeface="Nobile"/>
                <a:cs typeface="Nobile"/>
              </a:rPr>
              <a:t>Auto-compact small files; vacuum with retention windows</a:t>
            </a:r>
            <a:endParaRPr lang="en-US" sz="1050"/>
          </a:p>
          <a:p>
            <a:pPr marL="342900" indent="-342900" algn="l">
              <a:lnSpc>
                <a:spcPct val="130000"/>
              </a:lnSpc>
              <a:buSzPct val="100000"/>
              <a:buChar char="•"/>
              <a:defRPr/>
            </a:pPr>
            <a:r>
              <a:rPr lang="en-US" sz="1050">
                <a:solidFill>
                  <a:srgbClr val="405449"/>
                </a:solidFill>
                <a:latin typeface="Nobile"/>
                <a:ea typeface="Nobile"/>
                <a:cs typeface="Nobile"/>
              </a:rPr>
              <a:t>Query acceleration via materialized aggregates and indexes</a:t>
            </a:r>
            <a:endParaRPr lang="en-US" sz="1050"/>
          </a:p>
          <a:p>
            <a:pPr marL="342900" indent="-342900" algn="l">
              <a:lnSpc>
                <a:spcPct val="130000"/>
              </a:lnSpc>
              <a:buSzPct val="100000"/>
              <a:buChar char="•"/>
              <a:defRPr/>
            </a:pPr>
            <a:r>
              <a:rPr lang="en-US" sz="1050">
                <a:solidFill>
                  <a:srgbClr val="405449"/>
                </a:solidFill>
                <a:latin typeface="Nobile"/>
                <a:ea typeface="Nobile"/>
                <a:cs typeface="Nobile"/>
              </a:rPr>
              <a:t>Audit logs, table versioning, and reproducible snapshots</a:t>
            </a:r>
            <a:endParaRPr lang="en-US" sz="1050"/>
          </a:p>
          <a:p>
            <a:pPr marL="342900" indent="-342900" algn="l">
              <a:lnSpc>
                <a:spcPct val="130000"/>
              </a:lnSpc>
              <a:buSzPct val="100000"/>
              <a:buChar char="•"/>
              <a:defRPr/>
            </a:pPr>
            <a:r>
              <a:rPr lang="en-US" sz="1050">
                <a:solidFill>
                  <a:srgbClr val="405449"/>
                </a:solidFill>
                <a:latin typeface="Nobile"/>
                <a:ea typeface="Nobile"/>
                <a:cs typeface="Nobile"/>
              </a:rPr>
              <a:t>Provision BI-ready datasets with descriptive metadata</a:t>
            </a:r>
            <a:endParaRPr lang="en-US" sz="10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769077074" name="Text 0"/>
          <p:cNvSpPr/>
          <p:nvPr/>
        </p:nvSpPr>
        <p:spPr bwMode="auto">
          <a:xfrm flipH="0" flipV="0">
            <a:off x="440740" y="252709"/>
            <a:ext cx="8151761" cy="361199"/>
          </a:xfrm>
          <a:prstGeom prst="rect">
            <a:avLst/>
          </a:prstGeom>
          <a:noFill/>
          <a:ln/>
        </p:spPr>
        <p:txBody>
          <a:bodyPr wrap="square" lIns="0" tIns="0" rIns="0" bIns="0" rtlCol="0" anchor="t"/>
          <a:lstStyle/>
          <a:p>
            <a:pPr marL="0" indent="0" algn="ctr">
              <a:lnSpc>
                <a:spcPct val="104000"/>
              </a:lnSpc>
              <a:buNone/>
              <a:defRPr/>
            </a:pPr>
            <a:r>
              <a:rPr lang="en-US" sz="2200">
                <a:solidFill>
                  <a:srgbClr val="3B4540"/>
                </a:solidFill>
                <a:latin typeface="Fraunces ExtraBold"/>
                <a:ea typeface="Fraunces ExtraBold"/>
                <a:cs typeface="Fraunces ExtraBold"/>
              </a:rPr>
              <a:t>Interactive Analytics Dashboard</a:t>
            </a:r>
            <a:endParaRPr lang="en-US" sz="2200"/>
          </a:p>
        </p:txBody>
      </p:sp>
      <p:sp>
        <p:nvSpPr>
          <p:cNvPr id="761503252" name="Text 1"/>
          <p:cNvSpPr/>
          <p:nvPr/>
        </p:nvSpPr>
        <p:spPr bwMode="auto">
          <a:xfrm flipH="0" flipV="0">
            <a:off x="289579" y="1366837"/>
            <a:ext cx="8564840" cy="1966911"/>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marL="0" indent="0" algn="l">
              <a:lnSpc>
                <a:spcPct val="133000"/>
              </a:lnSpc>
              <a:buNone/>
              <a:defRPr/>
            </a:pPr>
            <a:endParaRPr lang="en-US" sz="1100"/>
          </a:p>
        </p:txBody>
      </p:sp>
      <p:sp>
        <p:nvSpPr>
          <p:cNvPr id="667373395" name="Text 10"/>
          <p:cNvSpPr/>
          <p:nvPr/>
        </p:nvSpPr>
        <p:spPr bwMode="auto">
          <a:xfrm>
            <a:off x="496118" y="1731837"/>
            <a:ext cx="8151762" cy="839911"/>
          </a:xfrm>
          <a:prstGeom prst="rect">
            <a:avLst/>
          </a:prstGeom>
          <a:noFill/>
          <a:ln/>
        </p:spPr>
        <p:txBody>
          <a:bodyPr wrap="square" lIns="0" tIns="0" rIns="0" bIns="0" rtlCol="0" anchor="t">
            <a:normAutofit/>
          </a:bodyPr>
          <a:lstStyle/>
          <a:p>
            <a:pPr>
              <a:defRPr/>
            </a:pPr>
            <a:endParaRPr/>
          </a:p>
        </p:txBody>
      </p:sp>
      <p:pic>
        <p:nvPicPr>
          <p:cNvPr id="87131290" name=""/>
          <p:cNvPicPr>
            <a:picLocks noChangeAspect="1"/>
          </p:cNvPicPr>
          <p:nvPr/>
        </p:nvPicPr>
        <p:blipFill>
          <a:blip r:embed="rId3"/>
          <a:stretch/>
        </p:blipFill>
        <p:spPr bwMode="auto">
          <a:xfrm rot="0" flipH="0" flipV="0">
            <a:off x="971868" y="724665"/>
            <a:ext cx="6660339" cy="435483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1850066574" name="Text 0"/>
          <p:cNvSpPr/>
          <p:nvPr/>
        </p:nvSpPr>
        <p:spPr bwMode="auto">
          <a:xfrm flipH="0" flipV="0">
            <a:off x="496118" y="407044"/>
            <a:ext cx="8032550" cy="317281"/>
          </a:xfrm>
          <a:prstGeom prst="rect">
            <a:avLst/>
          </a:prstGeom>
          <a:noFill/>
          <a:ln/>
        </p:spPr>
        <p:txBody>
          <a:bodyPr wrap="square" lIns="0" tIns="0" rIns="0" bIns="0" rtlCol="0" anchor="t"/>
          <a:lstStyle/>
          <a:p>
            <a:pPr marL="0" indent="0" algn="ctr">
              <a:lnSpc>
                <a:spcPct val="104000"/>
              </a:lnSpc>
              <a:buNone/>
              <a:defRPr/>
            </a:pPr>
            <a:r>
              <a:rPr lang="en-US" sz="1950">
                <a:solidFill>
                  <a:srgbClr val="3B4540"/>
                </a:solidFill>
                <a:latin typeface="Fraunces ExtraBold"/>
                <a:ea typeface="Fraunces ExtraBold"/>
                <a:cs typeface="Fraunces ExtraBold"/>
              </a:rPr>
              <a:t>Project Features &amp; Achievements</a:t>
            </a:r>
            <a:endParaRPr lang="en-US" sz="1950"/>
          </a:p>
        </p:txBody>
      </p:sp>
      <p:sp>
        <p:nvSpPr>
          <p:cNvPr id="130438306" name="Text 1"/>
          <p:cNvSpPr/>
          <p:nvPr/>
        </p:nvSpPr>
        <p:spPr bwMode="auto">
          <a:xfrm>
            <a:off x="496118" y="988367"/>
            <a:ext cx="2007765" cy="193848"/>
          </a:xfrm>
          <a:prstGeom prst="rect">
            <a:avLst/>
          </a:prstGeom>
          <a:noFill/>
          <a:ln/>
        </p:spPr>
        <p:txBody>
          <a:bodyPr wrap="none" lIns="0" tIns="0" rIns="0" bIns="0" rtlCol="0" anchor="t"/>
          <a:lstStyle/>
          <a:p>
            <a:pPr marL="0" indent="0" algn="l">
              <a:lnSpc>
                <a:spcPct val="104000"/>
              </a:lnSpc>
              <a:buNone/>
              <a:defRPr/>
            </a:pPr>
            <a:r>
              <a:rPr lang="en-US" sz="1200">
                <a:solidFill>
                  <a:srgbClr val="3B4540"/>
                </a:solidFill>
                <a:latin typeface="Fraunces ExtraBold"/>
                <a:ea typeface="Fraunces ExtraBold"/>
                <a:cs typeface="Fraunces ExtraBold"/>
              </a:rPr>
              <a:t>Features</a:t>
            </a:r>
            <a:endParaRPr lang="en-US" sz="1200"/>
          </a:p>
        </p:txBody>
      </p:sp>
      <p:pic>
        <p:nvPicPr>
          <p:cNvPr id="302555527" name="Image 0" descr="preencoded.png"/>
          <p:cNvPicPr>
            <a:picLocks noChangeAspect="1"/>
          </p:cNvPicPr>
          <p:nvPr/>
        </p:nvPicPr>
        <p:blipFill>
          <a:blip r:embed="rId3">
            <a:extLst>
              <a:ext uri="{96DAC541-7B7A-43D3-8B79-37D633B846F1}">
                <asvg:svgBlip xmlns:asvg="http://schemas.microsoft.com/office/drawing/2016/SVG/main" r:embed="rId4"/>
              </a:ext>
            </a:extLst>
          </a:blip>
          <a:stretch/>
        </p:blipFill>
        <p:spPr bwMode="auto">
          <a:xfrm>
            <a:off x="496118" y="1304254"/>
            <a:ext cx="310081" cy="310081"/>
          </a:xfrm>
          <a:prstGeom prst="rect">
            <a:avLst/>
          </a:prstGeom>
        </p:spPr>
      </p:pic>
      <p:sp>
        <p:nvSpPr>
          <p:cNvPr id="1791911334" name="Text 2"/>
          <p:cNvSpPr/>
          <p:nvPr/>
        </p:nvSpPr>
        <p:spPr bwMode="auto">
          <a:xfrm>
            <a:off x="941859" y="1304254"/>
            <a:ext cx="2132929" cy="193848"/>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Suspicious Login Detection</a:t>
            </a:r>
            <a:endParaRPr lang="en-US" sz="1200"/>
          </a:p>
        </p:txBody>
      </p:sp>
      <p:sp>
        <p:nvSpPr>
          <p:cNvPr id="1150589910" name="Text 3"/>
          <p:cNvSpPr/>
          <p:nvPr/>
        </p:nvSpPr>
        <p:spPr bwMode="auto">
          <a:xfrm>
            <a:off x="941859" y="1606599"/>
            <a:ext cx="3478856" cy="186034"/>
          </a:xfrm>
          <a:prstGeom prst="rect">
            <a:avLst/>
          </a:prstGeom>
          <a:noFill/>
          <a:ln/>
        </p:spPr>
        <p:txBody>
          <a:bodyPr wrap="none" lIns="0" tIns="0" rIns="0" bIns="0" rtlCol="0" anchor="t"/>
          <a:lstStyle/>
          <a:p>
            <a:pPr marL="0" indent="0" algn="l">
              <a:lnSpc>
                <a:spcPct val="125000"/>
              </a:lnSpc>
              <a:buNone/>
              <a:defRPr/>
            </a:pPr>
            <a:r>
              <a:rPr lang="en-US" sz="950">
                <a:solidFill>
                  <a:srgbClr val="405449"/>
                </a:solidFill>
                <a:latin typeface="Nobile"/>
                <a:ea typeface="Nobile"/>
                <a:cs typeface="Nobile"/>
              </a:rPr>
              <a:t>Real-time flags for anomalous sessions</a:t>
            </a:r>
            <a:endParaRPr lang="en-US" sz="950"/>
          </a:p>
        </p:txBody>
      </p:sp>
      <p:pic>
        <p:nvPicPr>
          <p:cNvPr id="1014845343" name="Image 1" descr="preencoded.png"/>
          <p:cNvPicPr>
            <a:picLocks noChangeAspect="1"/>
          </p:cNvPicPr>
          <p:nvPr/>
        </p:nvPicPr>
        <p:blipFill>
          <a:blip r:embed="rId5">
            <a:extLst>
              <a:ext uri="{96DAC541-7B7A-43D3-8B79-37D633B846F1}">
                <asvg:svgBlip xmlns:asvg="http://schemas.microsoft.com/office/drawing/2016/SVG/main" r:embed="rId6"/>
              </a:ext>
            </a:extLst>
          </a:blip>
          <a:stretch/>
        </p:blipFill>
        <p:spPr bwMode="auto">
          <a:xfrm>
            <a:off x="496118" y="2009700"/>
            <a:ext cx="310081" cy="310081"/>
          </a:xfrm>
          <a:prstGeom prst="rect">
            <a:avLst/>
          </a:prstGeom>
        </p:spPr>
      </p:pic>
      <p:sp>
        <p:nvSpPr>
          <p:cNvPr id="221465594" name="Text 4"/>
          <p:cNvSpPr/>
          <p:nvPr/>
        </p:nvSpPr>
        <p:spPr bwMode="auto">
          <a:xfrm>
            <a:off x="941859" y="2009700"/>
            <a:ext cx="1580926" cy="193848"/>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Risk Scoring Engine</a:t>
            </a:r>
            <a:endParaRPr lang="en-US" sz="1200"/>
          </a:p>
        </p:txBody>
      </p:sp>
      <p:sp>
        <p:nvSpPr>
          <p:cNvPr id="805938992" name="Text 5"/>
          <p:cNvSpPr/>
          <p:nvPr/>
        </p:nvSpPr>
        <p:spPr bwMode="auto">
          <a:xfrm>
            <a:off x="941859" y="2312044"/>
            <a:ext cx="3478856" cy="186034"/>
          </a:xfrm>
          <a:prstGeom prst="rect">
            <a:avLst/>
          </a:prstGeom>
          <a:noFill/>
          <a:ln/>
        </p:spPr>
        <p:txBody>
          <a:bodyPr wrap="none" lIns="0" tIns="0" rIns="0" bIns="0" rtlCol="0" anchor="t"/>
          <a:lstStyle/>
          <a:p>
            <a:pPr marL="0" indent="0" algn="l">
              <a:lnSpc>
                <a:spcPct val="125000"/>
              </a:lnSpc>
              <a:buNone/>
              <a:defRPr/>
            </a:pPr>
            <a:r>
              <a:rPr lang="en-US" sz="950">
                <a:solidFill>
                  <a:srgbClr val="405449"/>
                </a:solidFill>
                <a:latin typeface="Nobile"/>
                <a:ea typeface="Nobile"/>
                <a:cs typeface="Nobile"/>
              </a:rPr>
              <a:t>Rule-based + model-enriched scoring per event</a:t>
            </a:r>
            <a:endParaRPr lang="en-US" sz="950"/>
          </a:p>
        </p:txBody>
      </p:sp>
      <p:pic>
        <p:nvPicPr>
          <p:cNvPr id="522401582" name="Image 2" descr="preencoded.png"/>
          <p:cNvPicPr>
            <a:picLocks noChangeAspect="1"/>
          </p:cNvPicPr>
          <p:nvPr/>
        </p:nvPicPr>
        <p:blipFill>
          <a:blip r:embed="rId7">
            <a:extLst>
              <a:ext uri="{96DAC541-7B7A-43D3-8B79-37D633B846F1}">
                <asvg:svgBlip xmlns:asvg="http://schemas.microsoft.com/office/drawing/2016/SVG/main" r:embed="rId8"/>
              </a:ext>
            </a:extLst>
          </a:blip>
          <a:stretch/>
        </p:blipFill>
        <p:spPr bwMode="auto">
          <a:xfrm>
            <a:off x="496118" y="2715145"/>
            <a:ext cx="310081" cy="310081"/>
          </a:xfrm>
          <a:prstGeom prst="rect">
            <a:avLst/>
          </a:prstGeom>
        </p:spPr>
      </p:pic>
      <p:sp>
        <p:nvSpPr>
          <p:cNvPr id="1194482669" name="Text 6"/>
          <p:cNvSpPr/>
          <p:nvPr/>
        </p:nvSpPr>
        <p:spPr bwMode="auto">
          <a:xfrm>
            <a:off x="941859" y="2715145"/>
            <a:ext cx="1889595" cy="193848"/>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User Behavior Analytics</a:t>
            </a:r>
            <a:endParaRPr lang="en-US" sz="1200"/>
          </a:p>
        </p:txBody>
      </p:sp>
      <p:sp>
        <p:nvSpPr>
          <p:cNvPr id="2046461798" name="Text 7"/>
          <p:cNvSpPr/>
          <p:nvPr/>
        </p:nvSpPr>
        <p:spPr bwMode="auto">
          <a:xfrm>
            <a:off x="941859" y="3017489"/>
            <a:ext cx="3478856" cy="186034"/>
          </a:xfrm>
          <a:prstGeom prst="rect">
            <a:avLst/>
          </a:prstGeom>
          <a:noFill/>
          <a:ln/>
        </p:spPr>
        <p:txBody>
          <a:bodyPr wrap="none" lIns="0" tIns="0" rIns="0" bIns="0" rtlCol="0" anchor="t"/>
          <a:lstStyle/>
          <a:p>
            <a:pPr marL="0" indent="0" algn="l">
              <a:lnSpc>
                <a:spcPct val="125000"/>
              </a:lnSpc>
              <a:buNone/>
              <a:defRPr/>
            </a:pPr>
            <a:r>
              <a:rPr lang="en-US" sz="950">
                <a:solidFill>
                  <a:srgbClr val="405449"/>
                </a:solidFill>
                <a:latin typeface="Nobile"/>
                <a:ea typeface="Nobile"/>
                <a:cs typeface="Nobile"/>
              </a:rPr>
              <a:t>Baseline profiles and deviation detection</a:t>
            </a:r>
            <a:endParaRPr lang="en-US" sz="950"/>
          </a:p>
        </p:txBody>
      </p:sp>
      <p:pic>
        <p:nvPicPr>
          <p:cNvPr id="416093574" name="Image 3" descr="preencoded.png"/>
          <p:cNvPicPr>
            <a:picLocks noChangeAspect="1"/>
          </p:cNvPicPr>
          <p:nvPr/>
        </p:nvPicPr>
        <p:blipFill>
          <a:blip r:embed="rId9">
            <a:extLst>
              <a:ext uri="{96DAC541-7B7A-43D3-8B79-37D633B846F1}">
                <asvg:svgBlip xmlns:asvg="http://schemas.microsoft.com/office/drawing/2016/SVG/main" r:embed="rId10"/>
              </a:ext>
            </a:extLst>
          </a:blip>
          <a:stretch/>
        </p:blipFill>
        <p:spPr bwMode="auto">
          <a:xfrm>
            <a:off x="496118" y="3420590"/>
            <a:ext cx="310081" cy="310081"/>
          </a:xfrm>
          <a:prstGeom prst="rect">
            <a:avLst/>
          </a:prstGeom>
        </p:spPr>
      </p:pic>
      <p:sp>
        <p:nvSpPr>
          <p:cNvPr id="188084072" name="Text 8"/>
          <p:cNvSpPr/>
          <p:nvPr/>
        </p:nvSpPr>
        <p:spPr bwMode="auto">
          <a:xfrm>
            <a:off x="941859" y="3420590"/>
            <a:ext cx="1707058" cy="193848"/>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Dashboard Reporting</a:t>
            </a:r>
            <a:endParaRPr lang="en-US" sz="1200"/>
          </a:p>
        </p:txBody>
      </p:sp>
      <p:sp>
        <p:nvSpPr>
          <p:cNvPr id="1108050050" name="Text 9"/>
          <p:cNvSpPr/>
          <p:nvPr/>
        </p:nvSpPr>
        <p:spPr bwMode="auto">
          <a:xfrm>
            <a:off x="941859" y="3722934"/>
            <a:ext cx="3478856" cy="186034"/>
          </a:xfrm>
          <a:prstGeom prst="rect">
            <a:avLst/>
          </a:prstGeom>
          <a:noFill/>
          <a:ln/>
        </p:spPr>
        <p:txBody>
          <a:bodyPr wrap="none" lIns="0" tIns="0" rIns="0" bIns="0" rtlCol="0" anchor="t"/>
          <a:lstStyle/>
          <a:p>
            <a:pPr marL="0" indent="0" algn="l">
              <a:lnSpc>
                <a:spcPct val="125000"/>
              </a:lnSpc>
              <a:buNone/>
              <a:defRPr/>
            </a:pPr>
            <a:r>
              <a:rPr lang="en-US" sz="950">
                <a:solidFill>
                  <a:srgbClr val="405449"/>
                </a:solidFill>
                <a:latin typeface="Nobile"/>
                <a:ea typeface="Nobile"/>
                <a:cs typeface="Nobile"/>
              </a:rPr>
              <a:t>Operational KPIs and executive summaries</a:t>
            </a:r>
            <a:endParaRPr lang="en-US" sz="950"/>
          </a:p>
        </p:txBody>
      </p:sp>
      <p:pic>
        <p:nvPicPr>
          <p:cNvPr id="1738129829" name="Image 4" descr="preencoded.png"/>
          <p:cNvPicPr>
            <a:picLocks noChangeAspect="1"/>
          </p:cNvPicPr>
          <p:nvPr/>
        </p:nvPicPr>
        <p:blipFill>
          <a:blip r:embed="rId11">
            <a:extLst>
              <a:ext uri="{96DAC541-7B7A-43D3-8B79-37D633B846F1}">
                <asvg:svgBlip xmlns:asvg="http://schemas.microsoft.com/office/drawing/2016/SVG/main" r:embed="rId12"/>
              </a:ext>
            </a:extLst>
          </a:blip>
          <a:stretch/>
        </p:blipFill>
        <p:spPr bwMode="auto">
          <a:xfrm>
            <a:off x="496118" y="4126036"/>
            <a:ext cx="310081" cy="310081"/>
          </a:xfrm>
          <a:prstGeom prst="rect">
            <a:avLst/>
          </a:prstGeom>
        </p:spPr>
      </p:pic>
      <p:sp>
        <p:nvSpPr>
          <p:cNvPr id="1883005429" name="Text 10"/>
          <p:cNvSpPr/>
          <p:nvPr/>
        </p:nvSpPr>
        <p:spPr bwMode="auto">
          <a:xfrm>
            <a:off x="941859" y="4126036"/>
            <a:ext cx="1591344" cy="193848"/>
          </a:xfrm>
          <a:prstGeom prst="rect">
            <a:avLst/>
          </a:prstGeom>
          <a:noFill/>
          <a:ln/>
        </p:spPr>
        <p:txBody>
          <a:bodyPr wrap="none" lIns="0" tIns="0" rIns="0" bIns="0" rtlCol="0" anchor="t"/>
          <a:lstStyle/>
          <a:p>
            <a:pPr marL="0" indent="0" algn="l">
              <a:lnSpc>
                <a:spcPct val="104000"/>
              </a:lnSpc>
              <a:buNone/>
              <a:defRPr/>
            </a:pPr>
            <a:r>
              <a:rPr lang="en-US" sz="1200">
                <a:solidFill>
                  <a:srgbClr val="405449"/>
                </a:solidFill>
                <a:latin typeface="Fraunces ExtraBold"/>
                <a:ea typeface="Fraunces ExtraBold"/>
                <a:cs typeface="Fraunces ExtraBold"/>
              </a:rPr>
              <a:t>Security Monitoring</a:t>
            </a:r>
            <a:endParaRPr lang="en-US" sz="1200"/>
          </a:p>
        </p:txBody>
      </p:sp>
      <p:sp>
        <p:nvSpPr>
          <p:cNvPr id="907264969" name="Text 11"/>
          <p:cNvSpPr/>
          <p:nvPr/>
        </p:nvSpPr>
        <p:spPr bwMode="auto">
          <a:xfrm>
            <a:off x="941859" y="4428380"/>
            <a:ext cx="3478856" cy="186034"/>
          </a:xfrm>
          <a:prstGeom prst="rect">
            <a:avLst/>
          </a:prstGeom>
          <a:noFill/>
          <a:ln/>
        </p:spPr>
        <p:txBody>
          <a:bodyPr wrap="none" lIns="0" tIns="0" rIns="0" bIns="0" rtlCol="0" anchor="t"/>
          <a:lstStyle/>
          <a:p>
            <a:pPr marL="0" indent="0" algn="l">
              <a:lnSpc>
                <a:spcPct val="125000"/>
              </a:lnSpc>
              <a:buNone/>
              <a:defRPr/>
            </a:pPr>
            <a:r>
              <a:rPr lang="en-US" sz="950">
                <a:solidFill>
                  <a:srgbClr val="405449"/>
                </a:solidFill>
                <a:latin typeface="Nobile"/>
                <a:ea typeface="Nobile"/>
                <a:cs typeface="Nobile"/>
              </a:rPr>
              <a:t>Alerts, playbooks, and SOC integrations</a:t>
            </a:r>
            <a:endParaRPr lang="en-US" sz="950"/>
          </a:p>
        </p:txBody>
      </p:sp>
      <p:sp>
        <p:nvSpPr>
          <p:cNvPr id="1703743207" name="Text 12"/>
          <p:cNvSpPr/>
          <p:nvPr/>
        </p:nvSpPr>
        <p:spPr bwMode="auto">
          <a:xfrm>
            <a:off x="4728045" y="988367"/>
            <a:ext cx="2007765" cy="193848"/>
          </a:xfrm>
          <a:prstGeom prst="rect">
            <a:avLst/>
          </a:prstGeom>
          <a:noFill/>
          <a:ln/>
        </p:spPr>
        <p:txBody>
          <a:bodyPr wrap="none" lIns="0" tIns="0" rIns="0" bIns="0" rtlCol="0" anchor="t"/>
          <a:lstStyle/>
          <a:p>
            <a:pPr marL="0" indent="0" algn="l">
              <a:lnSpc>
                <a:spcPct val="104000"/>
              </a:lnSpc>
              <a:buNone/>
              <a:defRPr/>
            </a:pPr>
            <a:r>
              <a:rPr lang="en-US" sz="1200">
                <a:solidFill>
                  <a:srgbClr val="3B4540"/>
                </a:solidFill>
                <a:latin typeface="Fraunces ExtraBold"/>
                <a:ea typeface="Fraunces ExtraBold"/>
                <a:cs typeface="Fraunces ExtraBold"/>
              </a:rPr>
              <a:t>Achievements</a:t>
            </a:r>
            <a:endParaRPr lang="en-US" sz="1200"/>
          </a:p>
        </p:txBody>
      </p:sp>
      <p:sp>
        <p:nvSpPr>
          <p:cNvPr id="1057226813" name="Text 13"/>
          <p:cNvSpPr/>
          <p:nvPr/>
        </p:nvSpPr>
        <p:spPr bwMode="auto">
          <a:xfrm>
            <a:off x="4728045" y="1290711"/>
            <a:ext cx="3924597" cy="857993"/>
          </a:xfrm>
          <a:prstGeom prst="rect">
            <a:avLst/>
          </a:prstGeom>
          <a:noFill/>
          <a:ln/>
        </p:spPr>
        <p:txBody>
          <a:bodyPr wrap="square" lIns="0" tIns="0" rIns="0" bIns="0" rtlCol="0" anchor="t">
            <a:normAutofit/>
          </a:bodyPr>
          <a:lstStyle/>
          <a:p>
            <a:pPr marL="342900" indent="-342900" algn="l">
              <a:lnSpc>
                <a:spcPct val="125000"/>
              </a:lnSpc>
              <a:buSzPct val="100000"/>
              <a:buChar char="•"/>
              <a:defRPr/>
            </a:pPr>
            <a:r>
              <a:rPr lang="en-US" sz="950">
                <a:solidFill>
                  <a:srgbClr val="405449"/>
                </a:solidFill>
                <a:latin typeface="Nobile"/>
                <a:ea typeface="Nobile"/>
                <a:cs typeface="Nobile"/>
              </a:rPr>
              <a:t>Improved threat visibility across login surface</a:t>
            </a:r>
            <a:endParaRPr lang="en-US" sz="950"/>
          </a:p>
          <a:p>
            <a:pPr marL="342900" indent="-342900" algn="l">
              <a:lnSpc>
                <a:spcPct val="125000"/>
              </a:lnSpc>
              <a:buSzPct val="100000"/>
              <a:buChar char="•"/>
              <a:defRPr/>
            </a:pPr>
            <a:r>
              <a:rPr lang="en-US" sz="950">
                <a:solidFill>
                  <a:srgbClr val="405449"/>
                </a:solidFill>
                <a:latin typeface="Nobile"/>
                <a:ea typeface="Nobile"/>
                <a:cs typeface="Nobile"/>
              </a:rPr>
              <a:t>Automated risk assessment at event ingestion</a:t>
            </a:r>
            <a:endParaRPr lang="en-US" sz="950"/>
          </a:p>
          <a:p>
            <a:pPr marL="342900" indent="-342900" algn="l">
              <a:lnSpc>
                <a:spcPct val="125000"/>
              </a:lnSpc>
              <a:buSzPct val="100000"/>
              <a:buChar char="•"/>
              <a:defRPr/>
            </a:pPr>
            <a:r>
              <a:rPr lang="en-US" sz="950">
                <a:solidFill>
                  <a:srgbClr val="405449"/>
                </a:solidFill>
                <a:latin typeface="Nobile"/>
                <a:ea typeface="Nobile"/>
                <a:cs typeface="Nobile"/>
              </a:rPr>
              <a:t>Enhanced login security and incident triage speed</a:t>
            </a:r>
            <a:endParaRPr lang="en-US" sz="950"/>
          </a:p>
          <a:p>
            <a:pPr marL="342900" indent="-342900" algn="l">
              <a:lnSpc>
                <a:spcPct val="125000"/>
              </a:lnSpc>
              <a:buSzPct val="100000"/>
              <a:buChar char="•"/>
              <a:defRPr/>
            </a:pPr>
            <a:r>
              <a:rPr lang="en-US" sz="950">
                <a:solidFill>
                  <a:srgbClr val="405449"/>
                </a:solidFill>
                <a:latin typeface="Nobile"/>
                <a:ea typeface="Nobile"/>
                <a:cs typeface="Nobile"/>
              </a:rPr>
              <a:t>Faster anomaly detection with reduced false positives</a:t>
            </a:r>
            <a:endParaRPr lang="en-US" sz="950"/>
          </a:p>
        </p:txBody>
      </p:sp>
      <p:sp>
        <p:nvSpPr>
          <p:cNvPr id="1773870864" name="Shape 14"/>
          <p:cNvSpPr/>
          <p:nvPr/>
        </p:nvSpPr>
        <p:spPr bwMode="auto">
          <a:xfrm>
            <a:off x="4728045" y="2270745"/>
            <a:ext cx="3924597" cy="629244"/>
          </a:xfrm>
          <a:prstGeom prst="roundRect">
            <a:avLst>
              <a:gd name="adj" fmla="val 17742"/>
            </a:avLst>
          </a:prstGeom>
          <a:solidFill>
            <a:srgbClr val="B6FCB8"/>
          </a:solidFill>
          <a:ln/>
        </p:spPr>
      </p:sp>
      <p:pic>
        <p:nvPicPr>
          <p:cNvPr id="929277824" name="Image 5" descr="preencoded.png"/>
          <p:cNvPicPr>
            <a:picLocks noChangeAspect="1"/>
          </p:cNvPicPr>
          <p:nvPr/>
        </p:nvPicPr>
        <p:blipFill>
          <a:blip r:embed="rId13"/>
          <a:stretch/>
        </p:blipFill>
        <p:spPr bwMode="auto">
          <a:xfrm>
            <a:off x="4852019" y="2445766"/>
            <a:ext cx="155003" cy="123973"/>
          </a:xfrm>
          <a:prstGeom prst="rect">
            <a:avLst/>
          </a:prstGeom>
        </p:spPr>
      </p:pic>
      <p:sp>
        <p:nvSpPr>
          <p:cNvPr id="2104243254" name="Text 15"/>
          <p:cNvSpPr/>
          <p:nvPr/>
        </p:nvSpPr>
        <p:spPr bwMode="auto">
          <a:xfrm>
            <a:off x="5130997" y="2399332"/>
            <a:ext cx="3397671" cy="372069"/>
          </a:xfrm>
          <a:prstGeom prst="rect">
            <a:avLst/>
          </a:prstGeom>
          <a:noFill/>
          <a:ln/>
        </p:spPr>
        <p:txBody>
          <a:bodyPr wrap="square" lIns="0" tIns="0" rIns="0" bIns="0" rtlCol="0" anchor="t">
            <a:normAutofit/>
          </a:bodyPr>
          <a:lstStyle/>
          <a:p>
            <a:pPr marL="0" indent="0" algn="l">
              <a:lnSpc>
                <a:spcPct val="125000"/>
              </a:lnSpc>
              <a:buNone/>
              <a:defRPr/>
            </a:pPr>
            <a:r>
              <a:rPr lang="en-US" sz="950">
                <a:solidFill>
                  <a:srgbClr val="000000"/>
                </a:solidFill>
                <a:latin typeface="Nobile"/>
                <a:ea typeface="Nobile"/>
                <a:cs typeface="Nobile"/>
              </a:rPr>
              <a:t>Deployment validated in staging with live replay tests and SOC tabletop exercises.</a:t>
            </a:r>
            <a:endParaRPr lang="en-US" sz="9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2112242021" name="Text 0"/>
          <p:cNvSpPr/>
          <p:nvPr/>
        </p:nvSpPr>
        <p:spPr bwMode="auto">
          <a:xfrm flipH="0" flipV="0">
            <a:off x="496118" y="428475"/>
            <a:ext cx="8156523" cy="356412"/>
          </a:xfrm>
          <a:prstGeom prst="rect">
            <a:avLst/>
          </a:prstGeom>
          <a:noFill/>
          <a:ln/>
        </p:spPr>
        <p:txBody>
          <a:bodyPr wrap="square" lIns="0" tIns="0" rIns="0" bIns="0" rtlCol="0" anchor="t"/>
          <a:lstStyle/>
          <a:p>
            <a:pPr marL="0" indent="0" algn="ctr">
              <a:lnSpc>
                <a:spcPct val="104000"/>
              </a:lnSpc>
              <a:buNone/>
              <a:defRPr/>
            </a:pPr>
            <a:r>
              <a:rPr lang="en-US" sz="2150">
                <a:solidFill>
                  <a:srgbClr val="3B4540"/>
                </a:solidFill>
                <a:latin typeface="Fraunces ExtraBold"/>
                <a:ea typeface="Fraunces ExtraBold"/>
                <a:cs typeface="Fraunces ExtraBold"/>
              </a:rPr>
              <a:t>Challenges &amp; Future Enhancements</a:t>
            </a:r>
            <a:endParaRPr lang="en-US" sz="2150"/>
          </a:p>
        </p:txBody>
      </p:sp>
      <p:sp>
        <p:nvSpPr>
          <p:cNvPr id="1019387831" name="Text 1"/>
          <p:cNvSpPr/>
          <p:nvPr/>
        </p:nvSpPr>
        <p:spPr bwMode="auto">
          <a:xfrm>
            <a:off x="496118" y="1120749"/>
            <a:ext cx="2547937" cy="218032"/>
          </a:xfrm>
          <a:prstGeom prst="rect">
            <a:avLst/>
          </a:prstGeom>
          <a:noFill/>
          <a:ln/>
        </p:spPr>
        <p:txBody>
          <a:bodyPr wrap="none" lIns="0" tIns="0" rIns="0" bIns="0" rtlCol="0" anchor="t"/>
          <a:lstStyle/>
          <a:p>
            <a:pPr marL="0" indent="0" algn="l">
              <a:lnSpc>
                <a:spcPct val="104000"/>
              </a:lnSpc>
              <a:buNone/>
              <a:defRPr/>
            </a:pPr>
            <a:r>
              <a:rPr lang="en-US" sz="1350">
                <a:solidFill>
                  <a:srgbClr val="3B4540"/>
                </a:solidFill>
                <a:latin typeface="Fraunces ExtraBold"/>
                <a:ea typeface="Fraunces ExtraBold"/>
                <a:cs typeface="Fraunces ExtraBold"/>
              </a:rPr>
              <a:t>Engineering Challenges</a:t>
            </a:r>
            <a:endParaRPr lang="en-US" sz="1350"/>
          </a:p>
        </p:txBody>
      </p:sp>
      <p:sp>
        <p:nvSpPr>
          <p:cNvPr id="1187687354" name="Text 2"/>
          <p:cNvSpPr/>
          <p:nvPr/>
        </p:nvSpPr>
        <p:spPr bwMode="auto">
          <a:xfrm>
            <a:off x="496118" y="1476151"/>
            <a:ext cx="3905695" cy="1251495"/>
          </a:xfrm>
          <a:prstGeom prst="rect">
            <a:avLst/>
          </a:prstGeom>
          <a:noFill/>
          <a:ln/>
        </p:spPr>
        <p:txBody>
          <a:bodyPr wrap="square" lIns="0" tIns="0" rIns="0" bIns="0" rtlCol="0" anchor="t">
            <a:normAutofit/>
          </a:bodyPr>
          <a:lstStyle/>
          <a:p>
            <a:pPr marL="342900" indent="-342900" algn="l">
              <a:lnSpc>
                <a:spcPct val="132000"/>
              </a:lnSpc>
              <a:buSzPct val="100000"/>
              <a:buChar char="•"/>
              <a:defRPr/>
            </a:pPr>
            <a:r>
              <a:rPr lang="en-US" sz="1050">
                <a:solidFill>
                  <a:srgbClr val="405449"/>
                </a:solidFill>
                <a:latin typeface="Nobile"/>
                <a:ea typeface="Nobile"/>
                <a:cs typeface="Nobile"/>
              </a:rPr>
              <a:t>Data quality: inconsistent or missing attributes</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High-volume log processing overhead and small-file proliferation</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Label noise causing false-positive detections</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Latency constraints for near-real-time detection</a:t>
            </a:r>
            <a:endParaRPr lang="en-US" sz="1050"/>
          </a:p>
        </p:txBody>
      </p:sp>
      <p:sp>
        <p:nvSpPr>
          <p:cNvPr id="200575816" name="Text 3"/>
          <p:cNvSpPr/>
          <p:nvPr/>
        </p:nvSpPr>
        <p:spPr bwMode="auto">
          <a:xfrm>
            <a:off x="4746946" y="1120749"/>
            <a:ext cx="2546746" cy="218032"/>
          </a:xfrm>
          <a:prstGeom prst="rect">
            <a:avLst/>
          </a:prstGeom>
          <a:noFill/>
          <a:ln/>
        </p:spPr>
        <p:txBody>
          <a:bodyPr wrap="none" lIns="0" tIns="0" rIns="0" bIns="0" rtlCol="0" anchor="t"/>
          <a:lstStyle/>
          <a:p>
            <a:pPr marL="0" indent="0" algn="l">
              <a:lnSpc>
                <a:spcPct val="104000"/>
              </a:lnSpc>
              <a:buNone/>
              <a:defRPr/>
            </a:pPr>
            <a:r>
              <a:rPr lang="en-US" sz="1350">
                <a:solidFill>
                  <a:srgbClr val="3B4540"/>
                </a:solidFill>
                <a:latin typeface="Fraunces ExtraBold"/>
                <a:ea typeface="Fraunces ExtraBold"/>
                <a:cs typeface="Fraunces ExtraBold"/>
              </a:rPr>
              <a:t>Planned Enhancements</a:t>
            </a:r>
            <a:endParaRPr lang="en-US" sz="1350"/>
          </a:p>
        </p:txBody>
      </p:sp>
      <p:sp>
        <p:nvSpPr>
          <p:cNvPr id="1347750218" name="Text 4"/>
          <p:cNvSpPr/>
          <p:nvPr/>
        </p:nvSpPr>
        <p:spPr bwMode="auto">
          <a:xfrm>
            <a:off x="4746946" y="1476151"/>
            <a:ext cx="3905695" cy="1742479"/>
          </a:xfrm>
          <a:prstGeom prst="rect">
            <a:avLst/>
          </a:prstGeom>
          <a:noFill/>
          <a:ln/>
        </p:spPr>
        <p:txBody>
          <a:bodyPr wrap="square" lIns="0" tIns="0" rIns="0" bIns="0" rtlCol="0" anchor="t">
            <a:normAutofit/>
          </a:bodyPr>
          <a:lstStyle/>
          <a:p>
            <a:pPr marL="342900" indent="-342900" algn="l">
              <a:lnSpc>
                <a:spcPct val="132000"/>
              </a:lnSpc>
              <a:buSzPct val="100000"/>
              <a:buChar char="•"/>
              <a:defRPr/>
            </a:pPr>
            <a:r>
              <a:rPr lang="en-US" sz="1050">
                <a:solidFill>
                  <a:srgbClr val="405449"/>
                </a:solidFill>
                <a:latin typeface="Nobile"/>
                <a:ea typeface="Nobile"/>
                <a:cs typeface="Nobile"/>
              </a:rPr>
              <a:t>Real-time streaming analytics with durable checkpoints</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ML-based anomaly detection and online model serving</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MFA and adaptive authentication integration</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SIEM and SOAR pipeline integrations for automated response</a:t>
            </a:r>
            <a:endParaRPr lang="en-US" sz="1050"/>
          </a:p>
          <a:p>
            <a:pPr marL="342900" indent="-342900" algn="l">
              <a:lnSpc>
                <a:spcPct val="132000"/>
              </a:lnSpc>
              <a:buSzPct val="100000"/>
              <a:buChar char="•"/>
              <a:defRPr/>
            </a:pPr>
            <a:r>
              <a:rPr lang="en-US" sz="1050">
                <a:solidFill>
                  <a:srgbClr val="405449"/>
                </a:solidFill>
                <a:latin typeface="Nobile"/>
                <a:ea typeface="Nobile"/>
                <a:cs typeface="Nobile"/>
              </a:rPr>
              <a:t>Predictive threat intelligence via telemetry fusion</a:t>
            </a:r>
            <a:endParaRPr lang="en-US" sz="1050"/>
          </a:p>
        </p:txBody>
      </p:sp>
      <p:sp>
        <p:nvSpPr>
          <p:cNvPr id="131286393" name="Shape 5"/>
          <p:cNvSpPr/>
          <p:nvPr/>
        </p:nvSpPr>
        <p:spPr bwMode="auto">
          <a:xfrm>
            <a:off x="496118" y="3456011"/>
            <a:ext cx="8151762" cy="10416"/>
          </a:xfrm>
          <a:prstGeom prst="rect">
            <a:avLst/>
          </a:prstGeom>
          <a:solidFill>
            <a:srgbClr val="405449">
              <a:alpha val="50000"/>
            </a:srgbClr>
          </a:solidFill>
          <a:ln/>
        </p:spPr>
      </p:sp>
      <p:sp>
        <p:nvSpPr>
          <p:cNvPr id="592045968" name="Text 6"/>
          <p:cNvSpPr/>
          <p:nvPr/>
        </p:nvSpPr>
        <p:spPr bwMode="auto">
          <a:xfrm>
            <a:off x="597916" y="3793107"/>
            <a:ext cx="3702024" cy="218032"/>
          </a:xfrm>
          <a:prstGeom prst="rect">
            <a:avLst/>
          </a:prstGeom>
          <a:noFill/>
          <a:ln/>
        </p:spPr>
        <p:txBody>
          <a:bodyPr wrap="none" lIns="0" tIns="0" rIns="0" bIns="0" rtlCol="0" anchor="t"/>
          <a:lstStyle/>
          <a:p>
            <a:pPr marL="0" indent="0" algn="ctr">
              <a:lnSpc>
                <a:spcPct val="104000"/>
              </a:lnSpc>
              <a:buNone/>
              <a:defRPr/>
            </a:pPr>
            <a:r>
              <a:rPr lang="en-US" sz="1350">
                <a:solidFill>
                  <a:srgbClr val="3B4540"/>
                </a:solidFill>
                <a:latin typeface="Fraunces ExtraBold"/>
                <a:ea typeface="Fraunces ExtraBold"/>
                <a:cs typeface="Fraunces ExtraBold"/>
              </a:rPr>
              <a:t>Thank You — Questions &amp; Discussion</a:t>
            </a:r>
            <a:endParaRPr lang="en-US" sz="1350"/>
          </a:p>
        </p:txBody>
      </p:sp>
      <p:sp>
        <p:nvSpPr>
          <p:cNvPr id="854069112" name="Text 7"/>
          <p:cNvSpPr/>
          <p:nvPr/>
        </p:nvSpPr>
        <p:spPr bwMode="auto">
          <a:xfrm>
            <a:off x="496118" y="4148508"/>
            <a:ext cx="3905695" cy="442912"/>
          </a:xfrm>
          <a:prstGeom prst="rect">
            <a:avLst/>
          </a:prstGeom>
          <a:noFill/>
          <a:ln/>
        </p:spPr>
        <p:txBody>
          <a:bodyPr wrap="square" lIns="0" tIns="0" rIns="0" bIns="0" rtlCol="0" anchor="t">
            <a:normAutofit/>
          </a:bodyPr>
          <a:lstStyle/>
          <a:p>
            <a:pPr marL="0" indent="0" algn="ctr">
              <a:lnSpc>
                <a:spcPct val="132000"/>
              </a:lnSpc>
              <a:buNone/>
              <a:defRPr/>
            </a:pPr>
            <a:r>
              <a:rPr lang="en-US" sz="1050">
                <a:solidFill>
                  <a:srgbClr val="405449"/>
                </a:solidFill>
                <a:latin typeface="Nobile"/>
                <a:ea typeface="Nobile"/>
                <a:cs typeface="Nobile"/>
              </a:rPr>
              <a:t>Contact / Repo: [GitHub] • [security_contact@company.com]</a:t>
            </a:r>
            <a:endParaRPr lang="en-US" sz="1050"/>
          </a:p>
        </p:txBody>
      </p:sp>
      <p:sp>
        <p:nvSpPr>
          <p:cNvPr id="512830391" name="Text 8"/>
          <p:cNvSpPr/>
          <p:nvPr/>
        </p:nvSpPr>
        <p:spPr bwMode="auto">
          <a:xfrm>
            <a:off x="5598987" y="3793107"/>
            <a:ext cx="2201539" cy="218032"/>
          </a:xfrm>
          <a:prstGeom prst="rect">
            <a:avLst/>
          </a:prstGeom>
          <a:noFill/>
          <a:ln/>
        </p:spPr>
        <p:txBody>
          <a:bodyPr wrap="none" lIns="0" tIns="0" rIns="0" bIns="0" rtlCol="0" anchor="t"/>
          <a:lstStyle/>
          <a:p>
            <a:pPr marL="0" indent="0" algn="ctr">
              <a:lnSpc>
                <a:spcPct val="104000"/>
              </a:lnSpc>
              <a:buNone/>
              <a:defRPr/>
            </a:pPr>
            <a:r>
              <a:rPr lang="en-US" sz="1350">
                <a:solidFill>
                  <a:srgbClr val="3B4540"/>
                </a:solidFill>
                <a:latin typeface="Fraunces ExtraBold"/>
                <a:ea typeface="Fraunces ExtraBold"/>
                <a:cs typeface="Fraunces ExtraBold"/>
              </a:rPr>
              <a:t>Closing Notes</a:t>
            </a:r>
            <a:endParaRPr lang="en-US" sz="1350"/>
          </a:p>
        </p:txBody>
      </p:sp>
      <p:sp>
        <p:nvSpPr>
          <p:cNvPr id="1210991500" name="Text 9"/>
          <p:cNvSpPr/>
          <p:nvPr/>
        </p:nvSpPr>
        <p:spPr bwMode="auto">
          <a:xfrm>
            <a:off x="4746946" y="4148508"/>
            <a:ext cx="3905695" cy="442912"/>
          </a:xfrm>
          <a:prstGeom prst="rect">
            <a:avLst/>
          </a:prstGeom>
          <a:noFill/>
          <a:ln/>
        </p:spPr>
        <p:txBody>
          <a:bodyPr wrap="square" lIns="0" tIns="0" rIns="0" bIns="0" rtlCol="0" anchor="t">
            <a:normAutofit/>
          </a:bodyPr>
          <a:lstStyle/>
          <a:p>
            <a:pPr marL="0" indent="0" algn="ctr">
              <a:lnSpc>
                <a:spcPct val="132000"/>
              </a:lnSpc>
              <a:buNone/>
              <a:defRPr/>
            </a:pPr>
            <a:r>
              <a:rPr lang="en-US" sz="1050">
                <a:solidFill>
                  <a:srgbClr val="405449"/>
                </a:solidFill>
                <a:latin typeface="Nobile"/>
                <a:ea typeface="Nobile"/>
                <a:cs typeface="Nobile"/>
              </a:rPr>
              <a:t>Next: finalize SOC alert thresholds, validate ML models in production, schedule go/no-go with stakeholders.</a:t>
            </a:r>
            <a:endParaRPr lang="en-US" sz="10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ONLYOFFICE/9.0.3.29</Application>
  <PresentationFormat>On-screen Show (4:3)</PresentationFormat>
  <Paragraphs>0</Paragraphs>
  <Slides>15</Slides>
  <Notes>15</Notes>
  <HiddenSlides>0</HiddenSlides>
  <MMClips>2</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2</cp:revision>
  <dcterms:created xsi:type="dcterms:W3CDTF">2026-06-12T06:58:37Z</dcterms:created>
  <dcterms:modified xsi:type="dcterms:W3CDTF">2026-06-12T07:34:51Z</dcterms:modified>
</cp:coreProperties>
</file>